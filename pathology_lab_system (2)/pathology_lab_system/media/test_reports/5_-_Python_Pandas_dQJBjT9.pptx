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4" r:id="rId2"/>
    <p:sldId id="341" r:id="rId3"/>
    <p:sldId id="342" r:id="rId4"/>
    <p:sldId id="343" r:id="rId5"/>
    <p:sldId id="344" r:id="rId6"/>
    <p:sldId id="345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37" r:id="rId26"/>
    <p:sldId id="355" r:id="rId27"/>
    <p:sldId id="335" r:id="rId28"/>
    <p:sldId id="336" r:id="rId29"/>
    <p:sldId id="338" r:id="rId30"/>
    <p:sldId id="365" r:id="rId31"/>
    <p:sldId id="366" r:id="rId32"/>
    <p:sldId id="367" r:id="rId33"/>
    <p:sldId id="368" r:id="rId34"/>
    <p:sldId id="369" r:id="rId35"/>
    <p:sldId id="370" r:id="rId36"/>
    <p:sldId id="371" r:id="rId37"/>
    <p:sldId id="372" r:id="rId38"/>
    <p:sldId id="373" r:id="rId39"/>
    <p:sldId id="374" r:id="rId40"/>
    <p:sldId id="375" r:id="rId41"/>
    <p:sldId id="376" r:id="rId42"/>
    <p:sldId id="377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386" r:id="rId52"/>
    <p:sldId id="396" r:id="rId53"/>
    <p:sldId id="397" r:id="rId54"/>
    <p:sldId id="398" r:id="rId55"/>
    <p:sldId id="399" r:id="rId56"/>
    <p:sldId id="400" r:id="rId57"/>
    <p:sldId id="401" r:id="rId58"/>
    <p:sldId id="402" r:id="rId59"/>
    <p:sldId id="403" r:id="rId60"/>
    <p:sldId id="404" r:id="rId61"/>
    <p:sldId id="406" r:id="rId62"/>
    <p:sldId id="407" r:id="rId63"/>
    <p:sldId id="405" r:id="rId64"/>
    <p:sldId id="408" r:id="rId65"/>
    <p:sldId id="409" r:id="rId66"/>
    <p:sldId id="410" r:id="rId67"/>
    <p:sldId id="411" r:id="rId68"/>
    <p:sldId id="412" r:id="rId69"/>
    <p:sldId id="413" r:id="rId70"/>
    <p:sldId id="414" r:id="rId71"/>
    <p:sldId id="415" r:id="rId72"/>
    <p:sldId id="416" r:id="rId73"/>
    <p:sldId id="417" r:id="rId74"/>
    <p:sldId id="418" r:id="rId75"/>
    <p:sldId id="419" r:id="rId76"/>
    <p:sldId id="420" r:id="rId77"/>
    <p:sldId id="421" r:id="rId78"/>
    <p:sldId id="422" r:id="rId79"/>
    <p:sldId id="423" r:id="rId80"/>
    <p:sldId id="424" r:id="rId81"/>
    <p:sldId id="425" r:id="rId82"/>
    <p:sldId id="387" r:id="rId83"/>
    <p:sldId id="388" r:id="rId84"/>
    <p:sldId id="389" r:id="rId85"/>
    <p:sldId id="390" r:id="rId86"/>
    <p:sldId id="391" r:id="rId8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49" d="100"/>
          <a:sy n="49" d="100"/>
        </p:scale>
        <p:origin x="86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C15F9-BAC2-DA78-E5E3-4FF7056D4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E58343-FFF5-50A7-527A-3D20CAC1E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42161-F042-4FFE-4561-FC4ACE711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F776-4E62-4EDA-BCF6-9C2CF171121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908E3-2890-ED08-88F7-1FF3AE2A7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02229-3CA0-0EB6-B828-3F47BAE5B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FFE70-F700-40F5-A79F-DBB006364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725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3A10B-5E27-9680-DF37-9BFBF636A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DCC53-7B69-A0AF-7246-698A529CB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CA4A8-DE9C-8944-ED34-389C3BBE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F776-4E62-4EDA-BCF6-9C2CF171121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D9F01-F3CE-670A-5933-EF1343F41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69550-B996-EC2A-5C02-863C05B8A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FFE70-F700-40F5-A79F-DBB006364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97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23D78-CCE8-CD2A-9825-5BFD989B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13685-69A2-98DB-B65F-08F2688E7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2B00A-10BD-8B1F-F16E-236B59A77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F776-4E62-4EDA-BCF6-9C2CF171121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29076-7A8C-02DC-61BF-C039FAF4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34B20-5BD9-7F63-45C0-90A1C8DD8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FFE70-F700-40F5-A79F-DBB006364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61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F0663-32EF-5FE2-3D87-01DF2D2E5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9A952-45DA-5999-F6EE-FED39C17E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5C5EF2-F98F-E7EA-470A-4BCF6B480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5514B-3131-C0C2-9E85-858A71D87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F776-4E62-4EDA-BCF6-9C2CF171121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5DB59-35F9-8278-23A9-163FD0742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27597-88ED-1572-0AD5-D2A721035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FFE70-F700-40F5-A79F-DBB006364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85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8B06B-CF7E-CB30-7B00-3BECEBD53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3CDCC-42C3-59AB-FD83-9893162C1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7D1B5-CE72-1132-1FE6-8C3FC9B46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45C021-AE7F-690F-38E0-AA4AEC503A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E2F14D-784E-D937-EE4D-D8C1EA9C19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C953F5-CF6B-7BDD-F6C6-6741B7A43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F776-4E62-4EDA-BCF6-9C2CF171121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5BDC0B-966F-573F-8D18-12E3A94F9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BD2580-9FA0-1A24-1EA9-E727D490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FFE70-F700-40F5-A79F-DBB006364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07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50395-EF9E-96D5-AB91-E7F589372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AF5EA-3A54-1ACA-D69F-9903E9569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F776-4E62-4EDA-BCF6-9C2CF171121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91DE3-4E9C-BF34-A289-5F9593CAD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B5CA5-11CB-C135-47C9-79EDAF44F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FFE70-F700-40F5-A79F-DBB006364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12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12BBE0-C350-B4B6-431E-CCAF04B5C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F776-4E62-4EDA-BCF6-9C2CF171121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7E174-1F06-B054-1E6B-E344A1BE7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D8B37-5C04-D2A9-CB39-37C4B1D3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FFE70-F700-40F5-A79F-DBB006364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022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FD2C2-A7FC-3330-43DC-CC528D755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F828A-34D2-87CF-B76B-1D3259655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D3D90-E40C-DC1C-D977-866FCE8B8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4C9B4-C800-D752-2CCD-32C9D49A4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F776-4E62-4EDA-BCF6-9C2CF171121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65C8F-213E-B2F5-AAEC-DEB7C3A86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52E99-36F6-3909-A709-028974F5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FFE70-F700-40F5-A79F-DBB006364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47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12AD4-85FF-99DC-BBD3-7989D7F6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8ACCEB-E2C3-102C-6037-57765FF924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149C-B74E-79CA-7DE0-9808C8FC9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FA907-F511-7245-65CE-2724654B1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F776-4E62-4EDA-BCF6-9C2CF171121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4F0CC-8D08-5383-913D-4ED50C606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B1EC1-9A45-48F8-81D2-F9445BF18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FFE70-F700-40F5-A79F-DBB006364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75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22875-21E8-BA27-9D63-8755C1DC9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4854D-3015-E84B-7189-EBFC159CE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FE9AD-CE99-9B69-DF60-67C7E8D8E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F776-4E62-4EDA-BCF6-9C2CF171121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C4DF7-7B2C-F317-CB2F-6C98F5C53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C3746-D4AD-E905-E921-422B6EA0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FFE70-F700-40F5-A79F-DBB006364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93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2A59B1-16B4-EDB7-F5AE-DBF81F2ABA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7998E-66AF-1EC5-AF55-3F5C5A0E2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D62AD-79FC-31B1-7938-812B244B8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F776-4E62-4EDA-BCF6-9C2CF171121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C5CB2-6651-8C7F-048E-61EFC3CFB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38BFB-B728-7E1D-A0CB-1F5FC7FE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FFE70-F700-40F5-A79F-DBB006364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596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/>
          <p:cNvSpPr txBox="1">
            <a:spLocks noGrp="1"/>
          </p:cNvSpPr>
          <p:nvPr>
            <p:ph type="body" sz="quarter" idx="21"/>
          </p:nvPr>
        </p:nvSpPr>
        <p:spPr>
          <a:xfrm>
            <a:off x="600670" y="5929931"/>
            <a:ext cx="10985502" cy="318490"/>
          </a:xfrm>
          <a:prstGeom prst="rect">
            <a:avLst/>
          </a:prstGeom>
        </p:spPr>
        <p:txBody>
          <a:bodyPr lIns="45719" tIns="45719" rIns="45719" bIns="45719" anchor="ctr">
            <a:noAutofit/>
          </a:bodyPr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pPr>
            <a:endParaRPr/>
          </a:p>
        </p:txBody>
      </p:sp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603248" y="1287496"/>
            <a:ext cx="10985502" cy="2324101"/>
          </a:xfrm>
          <a:prstGeom prst="rect">
            <a:avLst/>
          </a:prstGeom>
        </p:spPr>
        <p:txBody>
          <a:bodyPr anchor="b"/>
          <a:lstStyle>
            <a:lvl1pPr>
              <a:defRPr sz="5800" spc="-116"/>
            </a:lvl1pPr>
          </a:lstStyle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0671" y="3611595"/>
            <a:ext cx="10985501" cy="952501"/>
          </a:xfrm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  <a:lvl2pPr marL="0" indent="2286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2pPr>
            <a:lvl3pPr marL="0" indent="4572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3pPr>
            <a:lvl4pPr marL="0" indent="6858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4pPr>
            <a:lvl5pPr marL="0" indent="9144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080795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CA5E8C-67EC-0AAB-68FC-D3B30CF60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9294A-2B49-EF01-ADE7-1B508502C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CAEE0-FC00-747B-CA54-CAB0627F3A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9F776-4E62-4EDA-BCF6-9C2CF171121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72C2B-9971-1251-77A6-9A002FB2D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E92DF-6CF7-ECF4-BCF4-4E39B3D39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FFE70-F700-40F5-A79F-DBB006364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806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1.nseindia.com/products/content/equities/indices/historical_index_data.htm" TargetMode="Externa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1.nseindia.com/products/content/equities/indices/historical_index_data.htm" TargetMode="Externa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4788568" y="2707106"/>
            <a:ext cx="261486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rgbClr val="002060"/>
                </a:solidFill>
              </a:rPr>
              <a:t>Pandas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673817-99D4-4EBA-B4EC-94AA9076728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71897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5022001" y="32061"/>
            <a:ext cx="2147998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4279" y="1755079"/>
            <a:ext cx="107877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Pandas is a fast, powerful, flexible and easy to use open source data analysis and manipulation tool, built on top of the Python programming language.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https://pandas.pydata.org/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What we will learn: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2060"/>
                </a:solidFill>
              </a:rPr>
              <a:t>Pandas objects: Series and </a:t>
            </a:r>
            <a:r>
              <a:rPr lang="en-US" sz="2400" b="1" dirty="0" err="1">
                <a:solidFill>
                  <a:srgbClr val="002060"/>
                </a:solidFill>
              </a:rPr>
              <a:t>Dataframes</a:t>
            </a:r>
            <a:endParaRPr lang="en-US" sz="2400" b="1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2060"/>
                </a:solidFill>
              </a:rPr>
              <a:t>Pandas for Data Wrangling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2060"/>
                </a:solidFill>
              </a:rPr>
              <a:t>Visualizing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906171-81E2-4B6A-A8F4-B836FE0D296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07310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519423" y="-138480"/>
            <a:ext cx="5034027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751" y="3457104"/>
            <a:ext cx="107877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Import </a:t>
            </a:r>
            <a:r>
              <a:rPr lang="en-US" sz="2400" b="1" dirty="0" err="1">
                <a:solidFill>
                  <a:srgbClr val="002060"/>
                </a:solidFill>
              </a:rPr>
              <a:t>numpy</a:t>
            </a:r>
            <a:r>
              <a:rPr lang="en-US" sz="2400" b="1" dirty="0">
                <a:solidFill>
                  <a:srgbClr val="002060"/>
                </a:solidFill>
              </a:rPr>
              <a:t> as np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Import Pandas as </a:t>
            </a:r>
            <a:r>
              <a:rPr lang="en-US" sz="2400" b="1" dirty="0" err="1">
                <a:solidFill>
                  <a:srgbClr val="002060"/>
                </a:solidFill>
              </a:rPr>
              <a:t>pd</a:t>
            </a: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s = </a:t>
            </a:r>
            <a:r>
              <a:rPr lang="en-US" sz="2400" b="1" dirty="0" err="1">
                <a:solidFill>
                  <a:srgbClr val="002060"/>
                </a:solidFill>
              </a:rPr>
              <a:t>pd.Series</a:t>
            </a:r>
            <a:r>
              <a:rPr lang="en-US" sz="2400" b="1" dirty="0">
                <a:solidFill>
                  <a:srgbClr val="002060"/>
                </a:solidFill>
              </a:rPr>
              <a:t>([0, 1, 1, 2, 3, 5, 8, 13])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print(s)</a:t>
            </a: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s.values</a:t>
            </a: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s.index</a:t>
            </a: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751" y="1347323"/>
            <a:ext cx="107877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Pandas Series is a one-dimensional labeled array capable of holding data of any type (integer, string, float, python objects, etc.). The axis labels are collectively called index. 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The object supports both integer and label-based indexing and provides a host of methods for performing operations involving the index.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21E899-3D57-4795-9E61-BF058FCFDAF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23552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4495800" y="0"/>
            <a:ext cx="7696199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115" y="1176534"/>
            <a:ext cx="1078772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# series is </a:t>
            </a:r>
            <a:r>
              <a:rPr lang="en-US" sz="2400" b="1" dirty="0" err="1">
                <a:solidFill>
                  <a:srgbClr val="002060"/>
                </a:solidFill>
              </a:rPr>
              <a:t>iteratable</a:t>
            </a: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for v in </a:t>
            </a:r>
            <a:r>
              <a:rPr lang="en-US" sz="2400" b="1" dirty="0" err="1">
                <a:solidFill>
                  <a:srgbClr val="002060"/>
                </a:solidFill>
              </a:rPr>
              <a:t>s.values</a:t>
            </a:r>
            <a:r>
              <a:rPr lang="en-US" sz="2400" b="1" dirty="0">
                <a:solidFill>
                  <a:srgbClr val="002060"/>
                </a:solidFill>
              </a:rPr>
              <a:t>: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	print(v)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for </a:t>
            </a:r>
            <a:r>
              <a:rPr lang="en-US" sz="2400" b="1" dirty="0" err="1">
                <a:solidFill>
                  <a:srgbClr val="002060"/>
                </a:solidFill>
              </a:rPr>
              <a:t>i</a:t>
            </a:r>
            <a:r>
              <a:rPr lang="en-US" sz="2400" b="1" dirty="0">
                <a:solidFill>
                  <a:srgbClr val="002060"/>
                </a:solidFill>
              </a:rPr>
              <a:t> in </a:t>
            </a:r>
            <a:r>
              <a:rPr lang="en-US" sz="2400" b="1" dirty="0" err="1">
                <a:solidFill>
                  <a:srgbClr val="002060"/>
                </a:solidFill>
              </a:rPr>
              <a:t>s.index</a:t>
            </a:r>
            <a:r>
              <a:rPr lang="en-US" sz="2400" b="1" dirty="0">
                <a:solidFill>
                  <a:srgbClr val="002060"/>
                </a:solidFill>
              </a:rPr>
              <a:t>: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	print(</a:t>
            </a:r>
            <a:r>
              <a:rPr lang="en-US" sz="2400" b="1" dirty="0" err="1">
                <a:solidFill>
                  <a:srgbClr val="002060"/>
                </a:solidFill>
              </a:rPr>
              <a:t>i</a:t>
            </a:r>
            <a:r>
              <a:rPr lang="en-US" sz="2400" b="1" dirty="0">
                <a:solidFill>
                  <a:srgbClr val="002060"/>
                </a:solidFill>
              </a:rPr>
              <a:t>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# Zip them into tuples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for item in zip(</a:t>
            </a:r>
            <a:r>
              <a:rPr lang="en-US" sz="2400" b="1" dirty="0" err="1">
                <a:solidFill>
                  <a:srgbClr val="002060"/>
                </a:solidFill>
              </a:rPr>
              <a:t>s.index</a:t>
            </a:r>
            <a:r>
              <a:rPr lang="en-US" sz="2400" b="1" dirty="0">
                <a:solidFill>
                  <a:srgbClr val="002060"/>
                </a:solidFill>
              </a:rPr>
              <a:t>, </a:t>
            </a:r>
            <a:r>
              <a:rPr lang="en-US" sz="2400" b="1" dirty="0" err="1">
                <a:solidFill>
                  <a:srgbClr val="002060"/>
                </a:solidFill>
              </a:rPr>
              <a:t>s.values</a:t>
            </a:r>
            <a:r>
              <a:rPr lang="en-US" sz="2400" b="1" dirty="0">
                <a:solidFill>
                  <a:srgbClr val="002060"/>
                </a:solidFill>
              </a:rPr>
              <a:t>):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	print(item)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567229" y="4470399"/>
            <a:ext cx="5144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Looks like a </a:t>
            </a:r>
            <a:r>
              <a:rPr lang="en-US" dirty="0" err="1"/>
              <a:t>dict</a:t>
            </a:r>
            <a:r>
              <a:rPr lang="en-US" dirty="0"/>
              <a:t> where we had a key and a value</a:t>
            </a:r>
          </a:p>
          <a:p>
            <a:r>
              <a:rPr lang="en-US" dirty="0"/>
              <a:t>Here, we have a index and a value, there are similarities but they are different as well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596E8A-F927-46EC-8796-A09FB5E52A1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75218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4191000" y="0"/>
            <a:ext cx="8000999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115" y="1176534"/>
            <a:ext cx="107877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# access any number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S[0]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S[1]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S[5]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Mercury = </a:t>
            </a:r>
            <a:r>
              <a:rPr lang="en-US" sz="2400" b="1" dirty="0" err="1">
                <a:solidFill>
                  <a:srgbClr val="002060"/>
                </a:solidFill>
              </a:rPr>
              <a:t>pd.Series</a:t>
            </a:r>
            <a:r>
              <a:rPr lang="en-US" sz="2400" b="1" dirty="0">
                <a:solidFill>
                  <a:srgbClr val="002060"/>
                </a:solidFill>
              </a:rPr>
              <a:t>([0.33, 57.9, 4222.6], index = [‘mass’, ‘diameter’, ‘daylength’)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Mercury[‘diameter’]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Mercury[‘mass’]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Mercury.mass</a:t>
            </a:r>
            <a:r>
              <a:rPr lang="en-US" sz="2400" b="1" dirty="0">
                <a:solidFill>
                  <a:srgbClr val="002060"/>
                </a:solidFill>
              </a:rPr>
              <a:t>			# not recommended as it has short comes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16D5B2-3F80-4601-B1ED-60FDA7A523B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16670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4181475" y="0"/>
            <a:ext cx="80105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115" y="1176534"/>
            <a:ext cx="107877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# Create a series using array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arr</a:t>
            </a:r>
            <a:r>
              <a:rPr lang="en-US" sz="2400" b="1" dirty="0">
                <a:solidFill>
                  <a:srgbClr val="002060"/>
                </a:solidFill>
              </a:rPr>
              <a:t> = </a:t>
            </a:r>
            <a:r>
              <a:rPr lang="en-US" sz="2400" b="1" dirty="0" err="1">
                <a:solidFill>
                  <a:srgbClr val="002060"/>
                </a:solidFill>
              </a:rPr>
              <a:t>np.random.randint</a:t>
            </a:r>
            <a:r>
              <a:rPr lang="en-US" sz="2400" b="1" dirty="0">
                <a:solidFill>
                  <a:srgbClr val="002060"/>
                </a:solidFill>
              </a:rPr>
              <a:t>(0, 10, 10)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arr</a:t>
            </a: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rand_series</a:t>
            </a:r>
            <a:r>
              <a:rPr lang="en-US" sz="2400" b="1" dirty="0">
                <a:solidFill>
                  <a:srgbClr val="002060"/>
                </a:solidFill>
              </a:rPr>
              <a:t> = </a:t>
            </a:r>
            <a:r>
              <a:rPr lang="en-US" sz="2400" b="1" dirty="0" err="1">
                <a:solidFill>
                  <a:srgbClr val="002060"/>
                </a:solidFill>
              </a:rPr>
              <a:t>pd.Series</a:t>
            </a:r>
            <a:r>
              <a:rPr lang="en-US" sz="2400" b="1" dirty="0">
                <a:solidFill>
                  <a:srgbClr val="002060"/>
                </a:solidFill>
              </a:rPr>
              <a:t>(</a:t>
            </a:r>
            <a:r>
              <a:rPr lang="en-US" sz="2400" b="1" dirty="0" err="1">
                <a:solidFill>
                  <a:srgbClr val="002060"/>
                </a:solidFill>
              </a:rPr>
              <a:t>arr</a:t>
            </a:r>
            <a:r>
              <a:rPr lang="en-US" sz="2400" b="1" dirty="0">
                <a:solidFill>
                  <a:srgbClr val="002060"/>
                </a:solidFill>
              </a:rPr>
              <a:t>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print(</a:t>
            </a:r>
            <a:r>
              <a:rPr lang="en-US" sz="2400" b="1" dirty="0" err="1">
                <a:solidFill>
                  <a:srgbClr val="002060"/>
                </a:solidFill>
              </a:rPr>
              <a:t>rand_series</a:t>
            </a:r>
            <a:r>
              <a:rPr lang="en-US" sz="2400" b="1" dirty="0">
                <a:solidFill>
                  <a:srgbClr val="002060"/>
                </a:solidFill>
              </a:rPr>
              <a:t>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ind</a:t>
            </a:r>
            <a:r>
              <a:rPr lang="en-US" sz="2400" b="1" dirty="0">
                <a:solidFill>
                  <a:srgbClr val="002060"/>
                </a:solidFill>
              </a:rPr>
              <a:t> = </a:t>
            </a:r>
            <a:r>
              <a:rPr lang="en-US" sz="2400" b="1" dirty="0" err="1">
                <a:solidFill>
                  <a:srgbClr val="002060"/>
                </a:solidFill>
              </a:rPr>
              <a:t>np.arange</a:t>
            </a:r>
            <a:r>
              <a:rPr lang="en-US" sz="2400" b="1" dirty="0">
                <a:solidFill>
                  <a:srgbClr val="002060"/>
                </a:solidFill>
              </a:rPr>
              <a:t>(10, 20)</a:t>
            </a: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rand_series</a:t>
            </a:r>
            <a:r>
              <a:rPr lang="en-US" sz="2400" b="1" dirty="0">
                <a:solidFill>
                  <a:srgbClr val="002060"/>
                </a:solidFill>
              </a:rPr>
              <a:t> = </a:t>
            </a:r>
            <a:r>
              <a:rPr lang="en-US" sz="2400" b="1" dirty="0" err="1">
                <a:solidFill>
                  <a:srgbClr val="002060"/>
                </a:solidFill>
              </a:rPr>
              <a:t>pd.Series</a:t>
            </a:r>
            <a:r>
              <a:rPr lang="en-US" sz="2400" b="1" dirty="0">
                <a:solidFill>
                  <a:srgbClr val="002060"/>
                </a:solidFill>
              </a:rPr>
              <a:t>(</a:t>
            </a:r>
            <a:r>
              <a:rPr lang="en-US" sz="2400" b="1" dirty="0" err="1">
                <a:solidFill>
                  <a:srgbClr val="002060"/>
                </a:solidFill>
              </a:rPr>
              <a:t>arr</a:t>
            </a:r>
            <a:r>
              <a:rPr lang="en-US" sz="2400" b="1" dirty="0">
                <a:solidFill>
                  <a:srgbClr val="002060"/>
                </a:solidFill>
              </a:rPr>
              <a:t>, index = </a:t>
            </a:r>
            <a:r>
              <a:rPr lang="en-US" sz="2400" b="1" dirty="0" err="1">
                <a:solidFill>
                  <a:srgbClr val="002060"/>
                </a:solidFill>
              </a:rPr>
              <a:t>ind</a:t>
            </a:r>
            <a:r>
              <a:rPr lang="en-US" sz="2400" b="1" dirty="0">
                <a:solidFill>
                  <a:srgbClr val="002060"/>
                </a:solidFill>
              </a:rPr>
              <a:t>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print(</a:t>
            </a:r>
            <a:r>
              <a:rPr lang="en-US" sz="2400" b="1" dirty="0" err="1">
                <a:solidFill>
                  <a:srgbClr val="002060"/>
                </a:solidFill>
              </a:rPr>
              <a:t>rand_series</a:t>
            </a:r>
            <a:r>
              <a:rPr lang="en-US" sz="2400" b="1" dirty="0">
                <a:solidFill>
                  <a:srgbClr val="002060"/>
                </a:solidFill>
              </a:rPr>
              <a:t>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6635FE-8131-4D3D-92DC-708487B7996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0582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962401" y="0"/>
            <a:ext cx="5391150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115" y="1176534"/>
            <a:ext cx="107877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# Create a series using dictionary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d = {}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d [‘mass’] = 0.33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d [‘diameter’] = 57.9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d [‘</a:t>
            </a:r>
            <a:r>
              <a:rPr lang="en-US" sz="2400" b="1" dirty="0" err="1">
                <a:solidFill>
                  <a:srgbClr val="002060"/>
                </a:solidFill>
              </a:rPr>
              <a:t>daylength</a:t>
            </a:r>
            <a:r>
              <a:rPr lang="en-US" sz="2400" b="1" dirty="0">
                <a:solidFill>
                  <a:srgbClr val="002060"/>
                </a:solidFill>
              </a:rPr>
              <a:t>’] =4222.6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print(d)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Mercury = </a:t>
            </a:r>
            <a:r>
              <a:rPr lang="en-US" sz="2400" b="1" dirty="0" err="1">
                <a:solidFill>
                  <a:srgbClr val="002060"/>
                </a:solidFill>
              </a:rPr>
              <a:t>pd.Series</a:t>
            </a:r>
            <a:r>
              <a:rPr lang="en-US" sz="2400" b="1" dirty="0">
                <a:solidFill>
                  <a:srgbClr val="002060"/>
                </a:solidFill>
              </a:rPr>
              <a:t>(d)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print(Mercury)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Mercury = </a:t>
            </a:r>
            <a:r>
              <a:rPr lang="en-US" sz="2400" b="1" dirty="0" err="1">
                <a:solidFill>
                  <a:srgbClr val="002060"/>
                </a:solidFill>
              </a:rPr>
              <a:t>pd.Series</a:t>
            </a:r>
            <a:r>
              <a:rPr lang="en-US" sz="2400" b="1" dirty="0">
                <a:solidFill>
                  <a:srgbClr val="002060"/>
                </a:solidFill>
              </a:rPr>
              <a:t>(d, index[‘mass’, ‘diameter’])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Print(Mercury)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B0930F-3602-4140-AE56-97859FB81EC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8146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679185" y="0"/>
            <a:ext cx="7505700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 (</a:t>
            </a:r>
            <a:r>
              <a:rPr lang="en-US" sz="3200" dirty="0" err="1">
                <a:solidFill>
                  <a:srgbClr val="002060"/>
                </a:solidFill>
              </a:rPr>
              <a:t>iLoc</a:t>
            </a:r>
            <a:r>
              <a:rPr lang="en-US" sz="3200" dirty="0">
                <a:solidFill>
                  <a:srgbClr val="002060"/>
                </a:solidFill>
              </a:rPr>
              <a:t> &amp; </a:t>
            </a:r>
            <a:r>
              <a:rPr lang="en-US" sz="3200" dirty="0" err="1">
                <a:solidFill>
                  <a:srgbClr val="002060"/>
                </a:solidFill>
              </a:rPr>
              <a:t>Loc</a:t>
            </a:r>
            <a:r>
              <a:rPr lang="en-US" sz="3200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115" y="1176534"/>
            <a:ext cx="107877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# </a:t>
            </a:r>
            <a:r>
              <a:rPr lang="en-US" sz="2400" b="1" dirty="0" err="1">
                <a:solidFill>
                  <a:srgbClr val="002060"/>
                </a:solidFill>
              </a:rPr>
              <a:t>iLoc</a:t>
            </a:r>
            <a:r>
              <a:rPr lang="en-US" sz="2400" b="1" dirty="0">
                <a:solidFill>
                  <a:srgbClr val="002060"/>
                </a:solidFill>
              </a:rPr>
              <a:t> &amp; </a:t>
            </a:r>
            <a:r>
              <a:rPr lang="en-US" sz="2400" b="1" dirty="0" err="1">
                <a:solidFill>
                  <a:srgbClr val="002060"/>
                </a:solidFill>
              </a:rPr>
              <a:t>Loc</a:t>
            </a: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s = </a:t>
            </a:r>
            <a:r>
              <a:rPr lang="en-US" sz="2400" b="1" dirty="0" err="1">
                <a:solidFill>
                  <a:srgbClr val="002060"/>
                </a:solidFill>
              </a:rPr>
              <a:t>pd.Series</a:t>
            </a:r>
            <a:r>
              <a:rPr lang="en-US" sz="2400" b="1" dirty="0">
                <a:solidFill>
                  <a:srgbClr val="002060"/>
                </a:solidFill>
              </a:rPr>
              <a:t>([0, 1, 1, 2, 3, 5, 8, 13], index = [1, 2, 3, 4, 5, 6, 7])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print(s)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s.loc</a:t>
            </a:r>
            <a:r>
              <a:rPr lang="en-US" sz="2400" b="1" dirty="0">
                <a:solidFill>
                  <a:srgbClr val="002060"/>
                </a:solidFill>
              </a:rPr>
              <a:t>[4]		# location based on custom index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s.iloc</a:t>
            </a:r>
            <a:r>
              <a:rPr lang="en-US" sz="2400" b="1" dirty="0">
                <a:solidFill>
                  <a:srgbClr val="002060"/>
                </a:solidFill>
              </a:rPr>
              <a:t>[4]		# implicit or </a:t>
            </a:r>
            <a:r>
              <a:rPr lang="en-US" sz="2400" b="1" dirty="0" err="1">
                <a:solidFill>
                  <a:srgbClr val="002060"/>
                </a:solidFill>
              </a:rPr>
              <a:t>std</a:t>
            </a:r>
            <a:r>
              <a:rPr lang="en-US" sz="2400" b="1" dirty="0">
                <a:solidFill>
                  <a:srgbClr val="002060"/>
                </a:solidFill>
              </a:rPr>
              <a:t> way starting with 0 index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s.iloc</a:t>
            </a:r>
            <a:r>
              <a:rPr lang="en-US" sz="2400" b="1" dirty="0">
                <a:solidFill>
                  <a:srgbClr val="002060"/>
                </a:solidFill>
              </a:rPr>
              <a:t>[0]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s.loc</a:t>
            </a:r>
            <a:r>
              <a:rPr lang="en-US" sz="2400" b="1" dirty="0">
                <a:solidFill>
                  <a:srgbClr val="002060"/>
                </a:solidFill>
              </a:rPr>
              <a:t>[0]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23CF6E-4DC8-472D-8FA3-B273C07C6B1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6398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876675" y="0"/>
            <a:ext cx="7648575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 (</a:t>
            </a:r>
            <a:r>
              <a:rPr lang="en-US" sz="3200" dirty="0" err="1">
                <a:solidFill>
                  <a:srgbClr val="002060"/>
                </a:solidFill>
              </a:rPr>
              <a:t>iLoc</a:t>
            </a:r>
            <a:r>
              <a:rPr lang="en-US" sz="3200" dirty="0">
                <a:solidFill>
                  <a:srgbClr val="002060"/>
                </a:solidFill>
              </a:rPr>
              <a:t> &amp; </a:t>
            </a:r>
            <a:r>
              <a:rPr lang="en-US" sz="3200" dirty="0" err="1">
                <a:solidFill>
                  <a:srgbClr val="002060"/>
                </a:solidFill>
              </a:rPr>
              <a:t>Loc</a:t>
            </a:r>
            <a:r>
              <a:rPr lang="en-US" sz="3200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115" y="1176534"/>
            <a:ext cx="107877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# </a:t>
            </a:r>
            <a:r>
              <a:rPr lang="en-US" sz="2400" b="1" dirty="0" err="1">
                <a:solidFill>
                  <a:srgbClr val="002060"/>
                </a:solidFill>
              </a:rPr>
              <a:t>iLoc</a:t>
            </a:r>
            <a:r>
              <a:rPr lang="en-US" sz="2400" b="1" dirty="0">
                <a:solidFill>
                  <a:srgbClr val="002060"/>
                </a:solidFill>
              </a:rPr>
              <a:t> &amp; </a:t>
            </a:r>
            <a:r>
              <a:rPr lang="en-US" sz="2400" b="1" dirty="0" err="1">
                <a:solidFill>
                  <a:srgbClr val="002060"/>
                </a:solidFill>
              </a:rPr>
              <a:t>Loc</a:t>
            </a: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Mercury = </a:t>
            </a:r>
            <a:r>
              <a:rPr lang="en-US" sz="2400" b="1" dirty="0" err="1">
                <a:solidFill>
                  <a:srgbClr val="002060"/>
                </a:solidFill>
              </a:rPr>
              <a:t>pd.Series</a:t>
            </a:r>
            <a:r>
              <a:rPr lang="en-US" sz="2400" b="1" dirty="0">
                <a:solidFill>
                  <a:srgbClr val="002060"/>
                </a:solidFill>
              </a:rPr>
              <a:t>(d, index= [‘mass’, ‘diameter’, ‘</a:t>
            </a:r>
            <a:r>
              <a:rPr lang="en-US" sz="2400" b="1" dirty="0" err="1">
                <a:solidFill>
                  <a:srgbClr val="002060"/>
                </a:solidFill>
              </a:rPr>
              <a:t>daylength</a:t>
            </a:r>
            <a:r>
              <a:rPr lang="en-US" sz="2400" b="1" dirty="0">
                <a:solidFill>
                  <a:srgbClr val="002060"/>
                </a:solidFill>
              </a:rPr>
              <a:t>’]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Mercury.loc</a:t>
            </a:r>
            <a:r>
              <a:rPr lang="en-US" sz="2400" b="1" dirty="0">
                <a:solidFill>
                  <a:srgbClr val="002060"/>
                </a:solidFill>
              </a:rPr>
              <a:t>[‘mass’]</a:t>
            </a: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Mercury.iloc</a:t>
            </a:r>
            <a:r>
              <a:rPr lang="en-US" sz="2400" b="1" dirty="0">
                <a:solidFill>
                  <a:srgbClr val="002060"/>
                </a:solidFill>
              </a:rPr>
              <a:t>[0]</a:t>
            </a: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Mercury.iloc</a:t>
            </a:r>
            <a:r>
              <a:rPr lang="en-US" sz="2400" b="1" dirty="0">
                <a:solidFill>
                  <a:srgbClr val="002060"/>
                </a:solidFill>
              </a:rPr>
              <a:t>[-1]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Mercury.iloc</a:t>
            </a:r>
            <a:r>
              <a:rPr lang="en-US" sz="2400" b="1" dirty="0">
                <a:solidFill>
                  <a:srgbClr val="002060"/>
                </a:solidFill>
              </a:rPr>
              <a:t>[0:2]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Mercury.loc</a:t>
            </a:r>
            <a:r>
              <a:rPr lang="en-US" sz="2400" b="1" dirty="0">
                <a:solidFill>
                  <a:srgbClr val="002060"/>
                </a:solidFill>
              </a:rPr>
              <a:t>[‘mass’ : ’diameter’]		# note change, end value included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16F16-60F7-4D71-A8F9-0B5939E5DF6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35049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234399" y="20580"/>
            <a:ext cx="9176675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 ( Simple Operations)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115" y="1176534"/>
            <a:ext cx="107877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# Operations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Mass = </a:t>
            </a:r>
            <a:r>
              <a:rPr lang="en-US" sz="2400" b="1" dirty="0" err="1">
                <a:solidFill>
                  <a:srgbClr val="002060"/>
                </a:solidFill>
              </a:rPr>
              <a:t>pd.Series</a:t>
            </a:r>
            <a:r>
              <a:rPr lang="en-US" sz="2400" b="1" dirty="0">
                <a:solidFill>
                  <a:srgbClr val="002060"/>
                </a:solidFill>
              </a:rPr>
              <a:t>(0.33, 4.07, 5.97, 0.642, 1090, 568, 86.0, 102, 0.0146), index= [‘mercury’, ‘</a:t>
            </a:r>
            <a:r>
              <a:rPr lang="en-US" sz="2400" b="1" dirty="0" err="1">
                <a:solidFill>
                  <a:srgbClr val="002060"/>
                </a:solidFill>
              </a:rPr>
              <a:t>venus</a:t>
            </a:r>
            <a:r>
              <a:rPr lang="en-US" sz="2400" b="1" dirty="0">
                <a:solidFill>
                  <a:srgbClr val="002060"/>
                </a:solidFill>
              </a:rPr>
              <a:t>’, ‘earth’, ‘mars’, ‘</a:t>
            </a:r>
            <a:r>
              <a:rPr lang="en-US" sz="2400" b="1" dirty="0" err="1">
                <a:solidFill>
                  <a:srgbClr val="002060"/>
                </a:solidFill>
              </a:rPr>
              <a:t>jupiter</a:t>
            </a:r>
            <a:r>
              <a:rPr lang="en-US" sz="2400" b="1" dirty="0">
                <a:solidFill>
                  <a:srgbClr val="002060"/>
                </a:solidFill>
              </a:rPr>
              <a:t>’, ‘</a:t>
            </a:r>
            <a:r>
              <a:rPr lang="en-US" sz="2400" b="1" dirty="0" err="1">
                <a:solidFill>
                  <a:srgbClr val="002060"/>
                </a:solidFill>
              </a:rPr>
              <a:t>saturn</a:t>
            </a:r>
            <a:r>
              <a:rPr lang="en-US" sz="2400" b="1" dirty="0">
                <a:solidFill>
                  <a:srgbClr val="002060"/>
                </a:solidFill>
              </a:rPr>
              <a:t>’, ‘</a:t>
            </a:r>
            <a:r>
              <a:rPr lang="en-US" sz="2400" b="1" dirty="0" err="1">
                <a:solidFill>
                  <a:srgbClr val="002060"/>
                </a:solidFill>
              </a:rPr>
              <a:t>uranus</a:t>
            </a:r>
            <a:r>
              <a:rPr lang="en-US" sz="2400" b="1" dirty="0">
                <a:solidFill>
                  <a:srgbClr val="002060"/>
                </a:solidFill>
              </a:rPr>
              <a:t>’, ‘</a:t>
            </a:r>
            <a:r>
              <a:rPr lang="en-US" sz="2400" b="1" dirty="0" err="1">
                <a:solidFill>
                  <a:srgbClr val="002060"/>
                </a:solidFill>
              </a:rPr>
              <a:t>neptune</a:t>
            </a:r>
            <a:r>
              <a:rPr lang="en-US" sz="2400" b="1" dirty="0">
                <a:solidFill>
                  <a:srgbClr val="002060"/>
                </a:solidFill>
              </a:rPr>
              <a:t>’, ‘</a:t>
            </a:r>
            <a:r>
              <a:rPr lang="en-US" sz="2400" b="1" dirty="0" err="1">
                <a:solidFill>
                  <a:srgbClr val="002060"/>
                </a:solidFill>
              </a:rPr>
              <a:t>pluto</a:t>
            </a:r>
            <a:r>
              <a:rPr lang="en-US" sz="2400" b="1" dirty="0">
                <a:solidFill>
                  <a:srgbClr val="002060"/>
                </a:solidFill>
              </a:rPr>
              <a:t>’]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Print(mass)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Mass &gt; 100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Mass[mass&gt;100]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Mass[(mass&gt;100) &amp; (mass&lt;600)]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Mass * 2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Mass /10</a:t>
            </a: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Np.mean</a:t>
            </a:r>
            <a:r>
              <a:rPr lang="en-US" sz="2400" b="1" dirty="0">
                <a:solidFill>
                  <a:srgbClr val="002060"/>
                </a:solidFill>
              </a:rPr>
              <a:t>(mass)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9FA91A-A968-491A-AA8B-0E425ED9878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3566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219450" y="0"/>
            <a:ext cx="9058275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 ( Simple Operations)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115" y="1176534"/>
            <a:ext cx="107877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# Operations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Np.amin</a:t>
            </a:r>
            <a:r>
              <a:rPr lang="en-US" sz="2400" b="1" dirty="0">
                <a:solidFill>
                  <a:srgbClr val="002060"/>
                </a:solidFill>
              </a:rPr>
              <a:t>(mass)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Np.amax</a:t>
            </a:r>
            <a:r>
              <a:rPr lang="en-US" sz="2400" b="1" dirty="0">
                <a:solidFill>
                  <a:srgbClr val="002060"/>
                </a:solidFill>
              </a:rPr>
              <a:t>(mass)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Np.median</a:t>
            </a:r>
            <a:r>
              <a:rPr lang="en-US" sz="2400" b="1" dirty="0">
                <a:solidFill>
                  <a:srgbClr val="002060"/>
                </a:solidFill>
              </a:rPr>
              <a:t>(5.97)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Mass * Mass				# need to have same indices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Mass + mass</a:t>
            </a: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Bigmass</a:t>
            </a:r>
            <a:r>
              <a:rPr lang="en-US" sz="2400" b="1" dirty="0">
                <a:solidFill>
                  <a:srgbClr val="002060"/>
                </a:solidFill>
              </a:rPr>
              <a:t> = mass[mass &gt; 100]</a:t>
            </a: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Bigmass</a:t>
            </a: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New_mass</a:t>
            </a:r>
            <a:r>
              <a:rPr lang="en-US" sz="2400" b="1" dirty="0">
                <a:solidFill>
                  <a:srgbClr val="002060"/>
                </a:solidFill>
              </a:rPr>
              <a:t> = mass + </a:t>
            </a:r>
            <a:r>
              <a:rPr lang="en-US" sz="2400" b="1" dirty="0" err="1">
                <a:solidFill>
                  <a:srgbClr val="002060"/>
                </a:solidFill>
              </a:rPr>
              <a:t>bigmass</a:t>
            </a: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Print(</a:t>
            </a:r>
            <a:r>
              <a:rPr lang="en-US" sz="2400" b="1" dirty="0" err="1">
                <a:solidFill>
                  <a:srgbClr val="002060"/>
                </a:solidFill>
              </a:rPr>
              <a:t>new_mass</a:t>
            </a:r>
            <a:r>
              <a:rPr lang="en-US" sz="2400" b="1" dirty="0">
                <a:solidFill>
                  <a:srgbClr val="002060"/>
                </a:solidFill>
              </a:rPr>
              <a:t>)			</a:t>
            </a:r>
            <a:r>
              <a:rPr lang="en-US" sz="1600" b="1" dirty="0">
                <a:solidFill>
                  <a:srgbClr val="002060"/>
                </a:solidFill>
              </a:rPr>
              <a:t># </a:t>
            </a:r>
            <a:r>
              <a:rPr lang="en-US" sz="1600" b="1" dirty="0" err="1">
                <a:solidFill>
                  <a:srgbClr val="002060"/>
                </a:solidFill>
              </a:rPr>
              <a:t>NaN</a:t>
            </a:r>
            <a:r>
              <a:rPr lang="en-US" sz="1600" b="1" dirty="0">
                <a:solidFill>
                  <a:srgbClr val="002060"/>
                </a:solidFill>
              </a:rPr>
              <a:t> when one of the series does not have the value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772487-2A2D-4F80-9F73-A71AA59D891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4301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200400" y="0"/>
            <a:ext cx="8991599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 ( Simple Operations)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115" y="1176534"/>
            <a:ext cx="107877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# Operations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Pd.isnull</a:t>
            </a:r>
            <a:r>
              <a:rPr lang="en-US" sz="2400" b="1" dirty="0">
                <a:solidFill>
                  <a:srgbClr val="002060"/>
                </a:solidFill>
              </a:rPr>
              <a:t>(</a:t>
            </a:r>
            <a:r>
              <a:rPr lang="en-US" sz="2400" b="1" dirty="0" err="1">
                <a:solidFill>
                  <a:srgbClr val="002060"/>
                </a:solidFill>
              </a:rPr>
              <a:t>new_mass</a:t>
            </a:r>
            <a:r>
              <a:rPr lang="en-US" sz="2400" b="1" dirty="0">
                <a:solidFill>
                  <a:srgbClr val="002060"/>
                </a:solidFill>
              </a:rPr>
              <a:t>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Newmass</a:t>
            </a:r>
            <a:r>
              <a:rPr lang="en-US" sz="2400" b="1" dirty="0">
                <a:solidFill>
                  <a:srgbClr val="002060"/>
                </a:solidFill>
              </a:rPr>
              <a:t>[~</a:t>
            </a:r>
            <a:r>
              <a:rPr lang="en-US" sz="2400" b="1" dirty="0" err="1">
                <a:solidFill>
                  <a:srgbClr val="002060"/>
                </a:solidFill>
              </a:rPr>
              <a:t>pd.isnull</a:t>
            </a:r>
            <a:r>
              <a:rPr lang="en-US" sz="2400" b="1" dirty="0">
                <a:solidFill>
                  <a:srgbClr val="002060"/>
                </a:solidFill>
              </a:rPr>
              <a:t>(</a:t>
            </a:r>
            <a:r>
              <a:rPr lang="en-US" sz="2400" b="1" dirty="0" err="1">
                <a:solidFill>
                  <a:srgbClr val="002060"/>
                </a:solidFill>
              </a:rPr>
              <a:t>new_mass</a:t>
            </a:r>
            <a:r>
              <a:rPr lang="en-US" sz="2400" b="1" dirty="0">
                <a:solidFill>
                  <a:srgbClr val="002060"/>
                </a:solidFill>
              </a:rPr>
              <a:t>)]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Mass[‘Eris’] = 0.000292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Mass[‘Moon’] = 0.7346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Mass</a:t>
            </a:r>
          </a:p>
          <a:p>
            <a:pPr>
              <a:defRPr/>
            </a:pPr>
            <a:r>
              <a:rPr lang="en-US" sz="2400" b="1" dirty="0" err="1">
                <a:solidFill>
                  <a:srgbClr val="002060"/>
                </a:solidFill>
              </a:rPr>
              <a:t>Mass.drop</a:t>
            </a:r>
            <a:r>
              <a:rPr lang="en-US" sz="2400" b="1" dirty="0">
                <a:solidFill>
                  <a:srgbClr val="002060"/>
                </a:solidFill>
              </a:rPr>
              <a:t>([‘Moon’])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diameter = </a:t>
            </a:r>
            <a:r>
              <a:rPr lang="en-US" sz="2400" b="1" dirty="0" err="1">
                <a:solidFill>
                  <a:srgbClr val="002060"/>
                </a:solidFill>
              </a:rPr>
              <a:t>pd.Series</a:t>
            </a:r>
            <a:r>
              <a:rPr lang="en-US" sz="2400" b="1" dirty="0">
                <a:solidFill>
                  <a:srgbClr val="002060"/>
                </a:solidFill>
              </a:rPr>
              <a:t>(4079, 12104, 12756, 3475, 6792, 142904, 120536, 51110, 49528, 2370), index= [‘mercury’, ‘</a:t>
            </a:r>
            <a:r>
              <a:rPr lang="en-US" sz="2400" b="1" dirty="0" err="1">
                <a:solidFill>
                  <a:srgbClr val="002060"/>
                </a:solidFill>
              </a:rPr>
              <a:t>venus</a:t>
            </a:r>
            <a:r>
              <a:rPr lang="en-US" sz="2400" b="1" dirty="0">
                <a:solidFill>
                  <a:srgbClr val="002060"/>
                </a:solidFill>
              </a:rPr>
              <a:t>’, ‘earth’, ‘mars’, ‘</a:t>
            </a:r>
            <a:r>
              <a:rPr lang="en-US" sz="2400" b="1" dirty="0" err="1">
                <a:solidFill>
                  <a:srgbClr val="002060"/>
                </a:solidFill>
              </a:rPr>
              <a:t>jupiter</a:t>
            </a:r>
            <a:r>
              <a:rPr lang="en-US" sz="2400" b="1" dirty="0">
                <a:solidFill>
                  <a:srgbClr val="002060"/>
                </a:solidFill>
              </a:rPr>
              <a:t>’, ‘</a:t>
            </a:r>
            <a:r>
              <a:rPr lang="en-US" sz="2400" b="1" dirty="0" err="1">
                <a:solidFill>
                  <a:srgbClr val="002060"/>
                </a:solidFill>
              </a:rPr>
              <a:t>saturn</a:t>
            </a:r>
            <a:r>
              <a:rPr lang="en-US" sz="2400" b="1" dirty="0">
                <a:solidFill>
                  <a:srgbClr val="002060"/>
                </a:solidFill>
              </a:rPr>
              <a:t>’, ‘</a:t>
            </a:r>
            <a:r>
              <a:rPr lang="en-US" sz="2400" b="1" dirty="0" err="1">
                <a:solidFill>
                  <a:srgbClr val="002060"/>
                </a:solidFill>
              </a:rPr>
              <a:t>uranus</a:t>
            </a:r>
            <a:r>
              <a:rPr lang="en-US" sz="2400" b="1" dirty="0">
                <a:solidFill>
                  <a:srgbClr val="002060"/>
                </a:solidFill>
              </a:rPr>
              <a:t>’, ‘</a:t>
            </a:r>
            <a:r>
              <a:rPr lang="en-US" sz="2400" b="1" dirty="0" err="1">
                <a:solidFill>
                  <a:srgbClr val="002060"/>
                </a:solidFill>
              </a:rPr>
              <a:t>neptune</a:t>
            </a:r>
            <a:r>
              <a:rPr lang="en-US" sz="2400" b="1" dirty="0">
                <a:solidFill>
                  <a:srgbClr val="002060"/>
                </a:solidFill>
              </a:rPr>
              <a:t>’, ‘</a:t>
            </a:r>
            <a:r>
              <a:rPr lang="en-US" sz="2400" b="1" dirty="0" err="1">
                <a:solidFill>
                  <a:srgbClr val="002060"/>
                </a:solidFill>
              </a:rPr>
              <a:t>pluto</a:t>
            </a:r>
            <a:r>
              <a:rPr lang="en-US" sz="2400" b="1" dirty="0">
                <a:solidFill>
                  <a:srgbClr val="002060"/>
                </a:solidFill>
              </a:rPr>
              <a:t>’]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6CEB52-EDD4-4C59-92AE-0E86AC241CF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43033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 ( Exercise)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115" y="1176534"/>
            <a:ext cx="107877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# Exercise, using mass and </a:t>
            </a:r>
            <a:r>
              <a:rPr lang="en-US" sz="2400" b="1" dirty="0" err="1">
                <a:solidFill>
                  <a:srgbClr val="002060"/>
                </a:solidFill>
              </a:rPr>
              <a:t>dia</a:t>
            </a:r>
            <a:r>
              <a:rPr lang="en-US" sz="2400" b="1" dirty="0">
                <a:solidFill>
                  <a:srgbClr val="002060"/>
                </a:solidFill>
              </a:rPr>
              <a:t> find density of each planet using series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diameter = </a:t>
            </a:r>
            <a:r>
              <a:rPr lang="en-US" sz="2400" b="1" dirty="0" err="1">
                <a:solidFill>
                  <a:srgbClr val="002060"/>
                </a:solidFill>
              </a:rPr>
              <a:t>pd.Series</a:t>
            </a:r>
            <a:r>
              <a:rPr lang="en-US" sz="2400" b="1" dirty="0">
                <a:solidFill>
                  <a:srgbClr val="002060"/>
                </a:solidFill>
              </a:rPr>
              <a:t>(4079, 12104, 12756, 3475, 6792, 142904, 120536, 51110, 49528, 2370), index= [‘mercury’, ‘</a:t>
            </a:r>
            <a:r>
              <a:rPr lang="en-US" sz="2400" b="1" dirty="0" err="1">
                <a:solidFill>
                  <a:srgbClr val="002060"/>
                </a:solidFill>
              </a:rPr>
              <a:t>venus</a:t>
            </a:r>
            <a:r>
              <a:rPr lang="en-US" sz="2400" b="1" dirty="0">
                <a:solidFill>
                  <a:srgbClr val="002060"/>
                </a:solidFill>
              </a:rPr>
              <a:t>’, ‘earth’, ‘mars’, ‘</a:t>
            </a:r>
            <a:r>
              <a:rPr lang="en-US" sz="2400" b="1" dirty="0" err="1">
                <a:solidFill>
                  <a:srgbClr val="002060"/>
                </a:solidFill>
              </a:rPr>
              <a:t>jupiter</a:t>
            </a:r>
            <a:r>
              <a:rPr lang="en-US" sz="2400" b="1" dirty="0">
                <a:solidFill>
                  <a:srgbClr val="002060"/>
                </a:solidFill>
              </a:rPr>
              <a:t>’, ‘</a:t>
            </a:r>
            <a:r>
              <a:rPr lang="en-US" sz="2400" b="1" dirty="0" err="1">
                <a:solidFill>
                  <a:srgbClr val="002060"/>
                </a:solidFill>
              </a:rPr>
              <a:t>saturn</a:t>
            </a:r>
            <a:r>
              <a:rPr lang="en-US" sz="2400" b="1" dirty="0">
                <a:solidFill>
                  <a:srgbClr val="002060"/>
                </a:solidFill>
              </a:rPr>
              <a:t>’, ‘</a:t>
            </a:r>
            <a:r>
              <a:rPr lang="en-US" sz="2400" b="1" dirty="0" err="1">
                <a:solidFill>
                  <a:srgbClr val="002060"/>
                </a:solidFill>
              </a:rPr>
              <a:t>uranus</a:t>
            </a:r>
            <a:r>
              <a:rPr lang="en-US" sz="2400" b="1" dirty="0">
                <a:solidFill>
                  <a:srgbClr val="002060"/>
                </a:solidFill>
              </a:rPr>
              <a:t>’, ‘</a:t>
            </a:r>
            <a:r>
              <a:rPr lang="en-US" sz="2400" b="1" dirty="0" err="1">
                <a:solidFill>
                  <a:srgbClr val="002060"/>
                </a:solidFill>
              </a:rPr>
              <a:t>neptune</a:t>
            </a:r>
            <a:r>
              <a:rPr lang="en-US" sz="2400" b="1" dirty="0">
                <a:solidFill>
                  <a:srgbClr val="002060"/>
                </a:solidFill>
              </a:rPr>
              <a:t>’, ‘</a:t>
            </a:r>
            <a:r>
              <a:rPr lang="en-US" sz="2400" b="1" dirty="0" err="1">
                <a:solidFill>
                  <a:srgbClr val="002060"/>
                </a:solidFill>
              </a:rPr>
              <a:t>pluto</a:t>
            </a:r>
            <a:r>
              <a:rPr lang="en-US" sz="2400" b="1" dirty="0">
                <a:solidFill>
                  <a:srgbClr val="002060"/>
                </a:solidFill>
              </a:rPr>
              <a:t>’]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Density			= mass / volume	= mass / Pi D**3) /6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Density = </a:t>
            </a:r>
            <a:r>
              <a:rPr lang="en-US" sz="2400" b="1" dirty="0" err="1">
                <a:solidFill>
                  <a:srgbClr val="002060"/>
                </a:solidFill>
              </a:rPr>
              <a:t>pd.Series</a:t>
            </a:r>
            <a:r>
              <a:rPr lang="en-US" sz="2400" b="1" dirty="0">
                <a:solidFill>
                  <a:srgbClr val="002060"/>
                </a:solidFill>
              </a:rPr>
              <a:t>([])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Print(density)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For planet in </a:t>
            </a:r>
            <a:r>
              <a:rPr lang="en-US" sz="2400" b="1" dirty="0" err="1">
                <a:solidFill>
                  <a:srgbClr val="002060"/>
                </a:solidFill>
              </a:rPr>
              <a:t>mass.index</a:t>
            </a:r>
            <a:r>
              <a:rPr lang="en-US" sz="2400" b="1" dirty="0">
                <a:solidFill>
                  <a:srgbClr val="002060"/>
                </a:solidFill>
              </a:rPr>
              <a:t>: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	density[planet] = mass[planet] / (</a:t>
            </a:r>
            <a:r>
              <a:rPr lang="en-US" sz="2400" b="1" dirty="0" err="1">
                <a:solidFill>
                  <a:srgbClr val="002060"/>
                </a:solidFill>
              </a:rPr>
              <a:t>np.pi</a:t>
            </a:r>
            <a:r>
              <a:rPr lang="en-US" sz="2400" b="1" dirty="0">
                <a:solidFill>
                  <a:srgbClr val="002060"/>
                </a:solidFill>
              </a:rPr>
              <a:t>*diameter[planet] * diameter[planet] *diameter[planet] / 6)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Print(density)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CC07AF-2FB4-4705-A361-ABDE945483A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0470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457575" y="0"/>
            <a:ext cx="87344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 ( Exercise)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115" y="1176534"/>
            <a:ext cx="1078772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# Exercise, using mass and </a:t>
            </a:r>
            <a:r>
              <a:rPr lang="en-US" sz="2400" b="1" dirty="0" err="1">
                <a:solidFill>
                  <a:srgbClr val="002060"/>
                </a:solidFill>
              </a:rPr>
              <a:t>dia</a:t>
            </a:r>
            <a:r>
              <a:rPr lang="en-US" sz="2400" b="1" dirty="0">
                <a:solidFill>
                  <a:srgbClr val="002060"/>
                </a:solidFill>
              </a:rPr>
              <a:t> find density of each planet using series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Better way of resolving the same using series and </a:t>
            </a:r>
            <a:r>
              <a:rPr lang="en-US" sz="2400" b="1" dirty="0" err="1">
                <a:solidFill>
                  <a:srgbClr val="002060"/>
                </a:solidFill>
              </a:rPr>
              <a:t>numpy</a:t>
            </a:r>
            <a:r>
              <a:rPr lang="en-US" sz="2400" b="1" dirty="0">
                <a:solidFill>
                  <a:srgbClr val="002060"/>
                </a:solidFill>
              </a:rPr>
              <a:t>: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Density = mass / (</a:t>
            </a:r>
            <a:r>
              <a:rPr lang="en-US" sz="2400" b="1" dirty="0" err="1">
                <a:solidFill>
                  <a:srgbClr val="002060"/>
                </a:solidFill>
              </a:rPr>
              <a:t>np.pi</a:t>
            </a:r>
            <a:r>
              <a:rPr lang="en-US" sz="2400" b="1" dirty="0">
                <a:solidFill>
                  <a:srgbClr val="002060"/>
                </a:solidFill>
              </a:rPr>
              <a:t> * </a:t>
            </a:r>
            <a:r>
              <a:rPr lang="en-US" sz="2400" b="1" dirty="0" err="1">
                <a:solidFill>
                  <a:srgbClr val="002060"/>
                </a:solidFill>
              </a:rPr>
              <a:t>np.power</a:t>
            </a:r>
            <a:r>
              <a:rPr lang="en-US" sz="2400" b="1" dirty="0">
                <a:solidFill>
                  <a:srgbClr val="002060"/>
                </a:solidFill>
              </a:rPr>
              <a:t>(diameter, 3) / 6)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Density</a:t>
            </a:r>
          </a:p>
          <a:p>
            <a:pPr>
              <a:defRPr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Mass[‘Undiscovered’] = 6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Density = mass / (</a:t>
            </a:r>
            <a:r>
              <a:rPr lang="en-US" sz="2400" b="1" dirty="0" err="1">
                <a:solidFill>
                  <a:srgbClr val="002060"/>
                </a:solidFill>
              </a:rPr>
              <a:t>np.pi</a:t>
            </a:r>
            <a:r>
              <a:rPr lang="en-US" sz="2400" b="1" dirty="0">
                <a:solidFill>
                  <a:srgbClr val="002060"/>
                </a:solidFill>
              </a:rPr>
              <a:t> * </a:t>
            </a:r>
            <a:r>
              <a:rPr lang="en-US" sz="2400" b="1" dirty="0" err="1">
                <a:solidFill>
                  <a:srgbClr val="002060"/>
                </a:solidFill>
              </a:rPr>
              <a:t>np.power</a:t>
            </a:r>
            <a:r>
              <a:rPr lang="en-US" sz="2400" b="1" dirty="0">
                <a:solidFill>
                  <a:srgbClr val="002060"/>
                </a:solidFill>
              </a:rPr>
              <a:t>(diameter, 3) / 6)</a:t>
            </a:r>
          </a:p>
          <a:p>
            <a:pPr>
              <a:defRPr/>
            </a:pPr>
            <a:r>
              <a:rPr lang="en-US" sz="2400" b="1" dirty="0">
                <a:solidFill>
                  <a:srgbClr val="002060"/>
                </a:solidFill>
              </a:rPr>
              <a:t>density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B5A9DF-A468-4A39-8132-BE0B355F3A5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3357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848100" y="0"/>
            <a:ext cx="8343899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 ( Exercise)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115" y="1176534"/>
            <a:ext cx="107877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# Exercise, replace all values with </a:t>
            </a:r>
            <a:r>
              <a:rPr lang="en-US" sz="2400" b="1" dirty="0" err="1">
                <a:solidFill>
                  <a:srgbClr val="0070C0"/>
                </a:solidFill>
              </a:rPr>
              <a:t>NaN</a:t>
            </a:r>
            <a:r>
              <a:rPr lang="en-US" sz="2400" b="1" dirty="0">
                <a:solidFill>
                  <a:srgbClr val="0070C0"/>
                </a:solidFill>
              </a:rPr>
              <a:t> with mean density: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Density_mean</a:t>
            </a:r>
            <a:r>
              <a:rPr lang="en-US" sz="2400" b="1" dirty="0">
                <a:solidFill>
                  <a:srgbClr val="0070C0"/>
                </a:solidFill>
              </a:rPr>
              <a:t> = </a:t>
            </a:r>
            <a:r>
              <a:rPr lang="en-US" sz="2400" b="1" dirty="0" err="1">
                <a:solidFill>
                  <a:srgbClr val="0070C0"/>
                </a:solidFill>
              </a:rPr>
              <a:t>np.mean</a:t>
            </a:r>
            <a:r>
              <a:rPr lang="en-US" sz="2400" b="1" dirty="0">
                <a:solidFill>
                  <a:srgbClr val="0070C0"/>
                </a:solidFill>
              </a:rPr>
              <a:t>(density)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For key in </a:t>
            </a:r>
            <a:r>
              <a:rPr lang="en-US" sz="2400" b="1" dirty="0" err="1">
                <a:solidFill>
                  <a:srgbClr val="0070C0"/>
                </a:solidFill>
              </a:rPr>
              <a:t>density.index</a:t>
            </a:r>
            <a:r>
              <a:rPr lang="en-US" sz="2400" b="1" dirty="0">
                <a:solidFill>
                  <a:srgbClr val="0070C0"/>
                </a:solidFill>
              </a:rPr>
              <a:t>:</a:t>
            </a: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	if </a:t>
            </a:r>
            <a:r>
              <a:rPr lang="en-US" sz="2400" b="1" dirty="0" err="1">
                <a:solidFill>
                  <a:srgbClr val="0070C0"/>
                </a:solidFill>
              </a:rPr>
              <a:t>pd.isnull</a:t>
            </a:r>
            <a:r>
              <a:rPr lang="en-US" sz="2400" b="1" dirty="0">
                <a:solidFill>
                  <a:srgbClr val="0070C0"/>
                </a:solidFill>
              </a:rPr>
              <a:t>(density[key]):</a:t>
            </a: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		density[key] = </a:t>
            </a:r>
            <a:r>
              <a:rPr lang="en-US" sz="2400" b="1" dirty="0" err="1">
                <a:solidFill>
                  <a:srgbClr val="0070C0"/>
                </a:solidFill>
              </a:rPr>
              <a:t>density_mean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Better way of resolving the same using series and </a:t>
            </a:r>
            <a:r>
              <a:rPr lang="en-US" sz="2400" b="1" dirty="0" err="1">
                <a:solidFill>
                  <a:srgbClr val="0070C0"/>
                </a:solidFill>
              </a:rPr>
              <a:t>numpy</a:t>
            </a:r>
            <a:r>
              <a:rPr lang="en-US" sz="2400" b="1" dirty="0">
                <a:solidFill>
                  <a:srgbClr val="0070C0"/>
                </a:solidFill>
              </a:rPr>
              <a:t>:</a:t>
            </a: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Mass[‘Undiscovered’] = 6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Pd.isnull</a:t>
            </a:r>
            <a:r>
              <a:rPr lang="en-US" sz="2400" b="1" dirty="0">
                <a:solidFill>
                  <a:srgbClr val="0070C0"/>
                </a:solidFill>
              </a:rPr>
              <a:t>(density)</a:t>
            </a: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Density[</a:t>
            </a:r>
            <a:r>
              <a:rPr lang="en-US" sz="2400" b="1" dirty="0" err="1">
                <a:solidFill>
                  <a:srgbClr val="0070C0"/>
                </a:solidFill>
              </a:rPr>
              <a:t>pd.isnull</a:t>
            </a:r>
            <a:r>
              <a:rPr lang="en-US" sz="2400" b="1" dirty="0">
                <a:solidFill>
                  <a:srgbClr val="0070C0"/>
                </a:solidFill>
              </a:rPr>
              <a:t>(density)] = </a:t>
            </a:r>
            <a:r>
              <a:rPr lang="en-US" sz="2400" b="1" dirty="0" err="1">
                <a:solidFill>
                  <a:srgbClr val="0070C0"/>
                </a:solidFill>
              </a:rPr>
              <a:t>np.mean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density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06BD0C-21F7-4E0C-8C31-417D678A7C0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88422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 ( Exercise)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682" y="1063368"/>
            <a:ext cx="1078772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# Exercise, Compare dictionary with Series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My_dict</a:t>
            </a:r>
            <a:r>
              <a:rPr lang="en-US" sz="2200" b="1" dirty="0">
                <a:solidFill>
                  <a:srgbClr val="0070C0"/>
                </a:solidFill>
              </a:rPr>
              <a:t> ={}</a:t>
            </a: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N = 100000</a:t>
            </a: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For I in range (N):</a:t>
            </a: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	</a:t>
            </a:r>
            <a:r>
              <a:rPr lang="en-US" sz="2200" b="1" dirty="0" err="1">
                <a:solidFill>
                  <a:srgbClr val="0070C0"/>
                </a:solidFill>
              </a:rPr>
              <a:t>my_dict</a:t>
            </a:r>
            <a:r>
              <a:rPr lang="en-US" sz="2200" b="1" dirty="0">
                <a:solidFill>
                  <a:srgbClr val="0070C0"/>
                </a:solidFill>
              </a:rPr>
              <a:t>(</a:t>
            </a:r>
            <a:r>
              <a:rPr lang="en-US" sz="2200" b="1" dirty="0" err="1">
                <a:solidFill>
                  <a:srgbClr val="0070C0"/>
                </a:solidFill>
              </a:rPr>
              <a:t>i</a:t>
            </a:r>
            <a:r>
              <a:rPr lang="en-US" sz="2200" b="1" dirty="0">
                <a:solidFill>
                  <a:srgbClr val="0070C0"/>
                </a:solidFill>
              </a:rPr>
              <a:t>) = i%10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My_series</a:t>
            </a:r>
            <a:r>
              <a:rPr lang="en-US" sz="2200" b="1" dirty="0">
                <a:solidFill>
                  <a:srgbClr val="0070C0"/>
                </a:solidFill>
              </a:rPr>
              <a:t> = </a:t>
            </a:r>
            <a:r>
              <a:rPr lang="en-US" sz="2200" b="1" dirty="0" err="1">
                <a:solidFill>
                  <a:srgbClr val="0070C0"/>
                </a:solidFill>
              </a:rPr>
              <a:t>pd.Series</a:t>
            </a:r>
            <a:r>
              <a:rPr lang="en-US" sz="2200" b="1" dirty="0">
                <a:solidFill>
                  <a:srgbClr val="0070C0"/>
                </a:solidFill>
              </a:rPr>
              <a:t>(</a:t>
            </a:r>
            <a:r>
              <a:rPr lang="en-US" sz="2200" b="1" dirty="0" err="1">
                <a:solidFill>
                  <a:srgbClr val="0070C0"/>
                </a:solidFill>
              </a:rPr>
              <a:t>my_dict</a:t>
            </a:r>
            <a:r>
              <a:rPr lang="en-US" sz="2200" b="1" dirty="0">
                <a:solidFill>
                  <a:srgbClr val="0070C0"/>
                </a:solidFill>
              </a:rPr>
              <a:t>)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M = 10000</a:t>
            </a: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arr</a:t>
            </a:r>
            <a:r>
              <a:rPr lang="en-US" sz="2200" b="1" dirty="0">
                <a:solidFill>
                  <a:srgbClr val="0070C0"/>
                </a:solidFill>
              </a:rPr>
              <a:t> = </a:t>
            </a:r>
            <a:r>
              <a:rPr lang="en-US" sz="2200" b="1" dirty="0" err="1">
                <a:solidFill>
                  <a:srgbClr val="0070C0"/>
                </a:solidFill>
              </a:rPr>
              <a:t>np.random.randint</a:t>
            </a:r>
            <a:r>
              <a:rPr lang="en-US" sz="2200" b="1" dirty="0">
                <a:solidFill>
                  <a:srgbClr val="0070C0"/>
                </a:solidFill>
              </a:rPr>
              <a:t>(0, N, M)</a:t>
            </a: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Arr</a:t>
            </a: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%%</a:t>
            </a:r>
            <a:r>
              <a:rPr lang="en-US" sz="2200" b="1" dirty="0" err="1">
                <a:solidFill>
                  <a:srgbClr val="0070C0"/>
                </a:solidFill>
              </a:rPr>
              <a:t>timeit</a:t>
            </a: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For I in </a:t>
            </a:r>
            <a:r>
              <a:rPr lang="en-US" sz="2200" b="1" dirty="0" err="1">
                <a:solidFill>
                  <a:srgbClr val="0070C0"/>
                </a:solidFill>
              </a:rPr>
              <a:t>arr</a:t>
            </a:r>
            <a:r>
              <a:rPr lang="en-US" sz="2200" b="1" dirty="0">
                <a:solidFill>
                  <a:srgbClr val="0070C0"/>
                </a:solidFill>
              </a:rPr>
              <a:t>:</a:t>
            </a: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	I in </a:t>
            </a:r>
            <a:r>
              <a:rPr lang="en-US" sz="2200" b="1" dirty="0" err="1">
                <a:solidFill>
                  <a:srgbClr val="0070C0"/>
                </a:solidFill>
              </a:rPr>
              <a:t>my_dict</a:t>
            </a:r>
            <a:endParaRPr lang="en-US" sz="2200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091055" y="2743200"/>
            <a:ext cx="1948872" cy="1422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/>
          <p:cNvCxnSpPr/>
          <p:nvPr/>
        </p:nvCxnSpPr>
        <p:spPr>
          <a:xfrm>
            <a:off x="9504218" y="2743200"/>
            <a:ext cx="27709" cy="1422400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213273" y="2743200"/>
            <a:ext cx="27709" cy="14224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788400" y="2743200"/>
            <a:ext cx="27709" cy="142240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8425873" y="2752436"/>
            <a:ext cx="27709" cy="14224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9EC84C2-9BC7-4D71-A17A-FF8D98C790E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9255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495675" y="0"/>
            <a:ext cx="86963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 ( Exercise)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682" y="1063368"/>
            <a:ext cx="1078772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# Exercise, Compare dictionary with Series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solidFill>
                  <a:srgbClr val="0070C0"/>
                </a:solidFill>
              </a:rPr>
              <a:t>Check if some key is present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solidFill>
                  <a:srgbClr val="0070C0"/>
                </a:solidFill>
              </a:rPr>
              <a:t>Summing values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solidFill>
                  <a:srgbClr val="0070C0"/>
                </a:solidFill>
              </a:rPr>
              <a:t>Computing std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%%</a:t>
            </a:r>
            <a:r>
              <a:rPr lang="en-US" sz="2200" b="1" dirty="0" err="1">
                <a:solidFill>
                  <a:srgbClr val="0070C0"/>
                </a:solidFill>
              </a:rPr>
              <a:t>timeit</a:t>
            </a: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For I in </a:t>
            </a:r>
            <a:r>
              <a:rPr lang="en-US" sz="2200" b="1" dirty="0" err="1">
                <a:solidFill>
                  <a:srgbClr val="0070C0"/>
                </a:solidFill>
              </a:rPr>
              <a:t>arr</a:t>
            </a:r>
            <a:r>
              <a:rPr lang="en-US" sz="2200" b="1" dirty="0">
                <a:solidFill>
                  <a:srgbClr val="0070C0"/>
                </a:solidFill>
              </a:rPr>
              <a:t>:</a:t>
            </a: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	I in </a:t>
            </a:r>
            <a:r>
              <a:rPr lang="en-US" sz="2200" b="1" dirty="0" err="1">
                <a:solidFill>
                  <a:srgbClr val="0070C0"/>
                </a:solidFill>
              </a:rPr>
              <a:t>my_series</a:t>
            </a: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%%</a:t>
            </a:r>
            <a:r>
              <a:rPr lang="en-US" sz="2200" b="1" dirty="0" err="1">
                <a:solidFill>
                  <a:srgbClr val="0070C0"/>
                </a:solidFill>
              </a:rPr>
              <a:t>timeit</a:t>
            </a: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Sum(</a:t>
            </a:r>
            <a:r>
              <a:rPr lang="en-US" sz="2200" b="1" dirty="0" err="1">
                <a:solidFill>
                  <a:srgbClr val="0070C0"/>
                </a:solidFill>
              </a:rPr>
              <a:t>my_dict.values</a:t>
            </a:r>
            <a:r>
              <a:rPr lang="en-US" sz="2200" b="1" dirty="0">
                <a:solidFill>
                  <a:srgbClr val="0070C0"/>
                </a:solidFill>
              </a:rPr>
              <a:t>())</a:t>
            </a: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%%</a:t>
            </a:r>
            <a:r>
              <a:rPr lang="en-US" sz="2200" b="1" dirty="0" err="1">
                <a:solidFill>
                  <a:srgbClr val="0070C0"/>
                </a:solidFill>
              </a:rPr>
              <a:t>timeit</a:t>
            </a: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Np.sum</a:t>
            </a:r>
            <a:r>
              <a:rPr lang="en-US" sz="2200" b="1" dirty="0">
                <a:solidFill>
                  <a:srgbClr val="0070C0"/>
                </a:solidFill>
              </a:rPr>
              <a:t>(</a:t>
            </a:r>
            <a:r>
              <a:rPr lang="en-US" sz="2200" b="1" dirty="0" err="1">
                <a:solidFill>
                  <a:srgbClr val="0070C0"/>
                </a:solidFill>
              </a:rPr>
              <a:t>my_series</a:t>
            </a:r>
            <a:r>
              <a:rPr lang="en-US" sz="2200" b="1" dirty="0">
                <a:solidFill>
                  <a:srgbClr val="0070C0"/>
                </a:solidFill>
              </a:rPr>
              <a:t>)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%%</a:t>
            </a:r>
            <a:r>
              <a:rPr lang="en-US" sz="2200" b="1" dirty="0" err="1">
                <a:solidFill>
                  <a:srgbClr val="0070C0"/>
                </a:solidFill>
              </a:rPr>
              <a:t>timeit</a:t>
            </a: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Mean = sum(</a:t>
            </a:r>
            <a:r>
              <a:rPr lang="en-US" sz="2200" b="1" dirty="0" err="1">
                <a:solidFill>
                  <a:srgbClr val="0070C0"/>
                </a:solidFill>
              </a:rPr>
              <a:t>my_dict.values</a:t>
            </a:r>
            <a:r>
              <a:rPr lang="en-US" sz="2200" b="1" dirty="0">
                <a:solidFill>
                  <a:srgbClr val="0070C0"/>
                </a:solidFill>
              </a:rPr>
              <a:t>()) / N</a:t>
            </a: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Variance = sum( [ (x-mean)**2 for x in </a:t>
            </a:r>
            <a:r>
              <a:rPr lang="en-US" sz="2200" b="1" dirty="0" err="1">
                <a:solidFill>
                  <a:srgbClr val="0070C0"/>
                </a:solidFill>
              </a:rPr>
              <a:t>my_dict.values</a:t>
            </a:r>
            <a:r>
              <a:rPr lang="en-US" sz="2200" b="1" dirty="0">
                <a:solidFill>
                  <a:srgbClr val="0070C0"/>
                </a:solidFill>
              </a:rPr>
              <a:t>()])</a:t>
            </a: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Std</a:t>
            </a:r>
            <a:r>
              <a:rPr lang="en-US" sz="2200" b="1" dirty="0">
                <a:solidFill>
                  <a:srgbClr val="0070C0"/>
                </a:solidFill>
              </a:rPr>
              <a:t> = variance **0.5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F3F725-CF4B-4CB1-9926-5A2848BAD2E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25987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657600" y="0"/>
            <a:ext cx="8534399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 ( Exercise)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682" y="1063368"/>
            <a:ext cx="107877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# Exercise, Compare dictionary with Series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%%</a:t>
            </a:r>
            <a:r>
              <a:rPr lang="en-US" sz="2200" b="1" dirty="0" err="1">
                <a:solidFill>
                  <a:srgbClr val="0070C0"/>
                </a:solidFill>
              </a:rPr>
              <a:t>timeit</a:t>
            </a: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Np.mean</a:t>
            </a:r>
            <a:r>
              <a:rPr lang="en-US" sz="2200" b="1" dirty="0">
                <a:solidFill>
                  <a:srgbClr val="0070C0"/>
                </a:solidFill>
              </a:rPr>
              <a:t>(</a:t>
            </a:r>
            <a:r>
              <a:rPr lang="en-US" sz="2200" b="1" dirty="0" err="1">
                <a:solidFill>
                  <a:srgbClr val="0070C0"/>
                </a:solidFill>
              </a:rPr>
              <a:t>my_series</a:t>
            </a:r>
            <a:r>
              <a:rPr lang="en-US" sz="2200" b="1" dirty="0">
                <a:solidFill>
                  <a:srgbClr val="0070C0"/>
                </a:solidFill>
              </a:rPr>
              <a:t>)</a:t>
            </a: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Np.var</a:t>
            </a:r>
            <a:r>
              <a:rPr lang="en-US" sz="2200" b="1" dirty="0">
                <a:solidFill>
                  <a:srgbClr val="0070C0"/>
                </a:solidFill>
              </a:rPr>
              <a:t>(</a:t>
            </a:r>
            <a:r>
              <a:rPr lang="en-US" sz="2200" b="1" dirty="0" err="1">
                <a:solidFill>
                  <a:srgbClr val="0070C0"/>
                </a:solidFill>
              </a:rPr>
              <a:t>my_series</a:t>
            </a:r>
            <a:r>
              <a:rPr lang="en-US" sz="2200" b="1" dirty="0">
                <a:solidFill>
                  <a:srgbClr val="0070C0"/>
                </a:solidFill>
              </a:rPr>
              <a:t>)</a:t>
            </a: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Np.std</a:t>
            </a:r>
            <a:r>
              <a:rPr lang="en-US" sz="2200" b="1" dirty="0">
                <a:solidFill>
                  <a:srgbClr val="0070C0"/>
                </a:solidFill>
              </a:rPr>
              <a:t>(</a:t>
            </a:r>
            <a:r>
              <a:rPr lang="en-US" sz="2200" b="1" dirty="0" err="1">
                <a:solidFill>
                  <a:srgbClr val="0070C0"/>
                </a:solidFill>
              </a:rPr>
              <a:t>my_series</a:t>
            </a:r>
            <a:r>
              <a:rPr lang="en-US" sz="2200" b="1" dirty="0">
                <a:solidFill>
                  <a:srgbClr val="0070C0"/>
                </a:solidFill>
              </a:rPr>
              <a:t>)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Summary:</a:t>
            </a: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Checking if a Key is present is much faster in Dictionary.</a:t>
            </a: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While, summing up and computing values is much faster in Series.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3546F0-EFCD-4351-9BCC-51E3384348A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78942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682" y="1063368"/>
            <a:ext cx="1078772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# Applying Series on real time example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Nifty = </a:t>
            </a:r>
            <a:r>
              <a:rPr lang="en-US" sz="2200" b="1" dirty="0" err="1">
                <a:solidFill>
                  <a:srgbClr val="0070C0"/>
                </a:solidFill>
              </a:rPr>
              <a:t>pd.read_csv</a:t>
            </a:r>
            <a:r>
              <a:rPr lang="en-US" sz="2200" b="1" dirty="0">
                <a:solidFill>
                  <a:srgbClr val="0070C0"/>
                </a:solidFill>
              </a:rPr>
              <a:t>(‘nifty.csv’, </a:t>
            </a:r>
            <a:r>
              <a:rPr lang="en-US" sz="2200" b="1" dirty="0" err="1">
                <a:solidFill>
                  <a:srgbClr val="0070C0"/>
                </a:solidFill>
              </a:rPr>
              <a:t>index_col</a:t>
            </a:r>
            <a:r>
              <a:rPr lang="en-US" sz="2200" b="1" dirty="0">
                <a:solidFill>
                  <a:srgbClr val="0070C0"/>
                </a:solidFill>
              </a:rPr>
              <a:t> = 0). </a:t>
            </a:r>
            <a:r>
              <a:rPr lang="en-US" sz="2200" b="1" dirty="0" err="1">
                <a:solidFill>
                  <a:srgbClr val="0070C0"/>
                </a:solidFill>
              </a:rPr>
              <a:t>iloc</a:t>
            </a:r>
            <a:r>
              <a:rPr lang="en-US" sz="2200" b="1" dirty="0">
                <a:solidFill>
                  <a:srgbClr val="0070C0"/>
                </a:solidFill>
              </a:rPr>
              <a:t>[:, 0]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Nifty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Nifty.head</a:t>
            </a:r>
            <a:r>
              <a:rPr lang="en-US" sz="2200" b="1" dirty="0">
                <a:solidFill>
                  <a:srgbClr val="0070C0"/>
                </a:solidFill>
              </a:rPr>
              <a:t>(20)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Nifty.tail</a:t>
            </a:r>
            <a:r>
              <a:rPr lang="en-US" sz="2200" b="1" dirty="0">
                <a:solidFill>
                  <a:srgbClr val="0070C0"/>
                </a:solidFill>
              </a:rPr>
              <a:t>(20)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Np.mean</a:t>
            </a:r>
            <a:r>
              <a:rPr lang="en-US" sz="2200" b="1" dirty="0">
                <a:solidFill>
                  <a:srgbClr val="0070C0"/>
                </a:solidFill>
              </a:rPr>
              <a:t>(nifty)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Np. Median(nifty)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Np.std</a:t>
            </a:r>
            <a:r>
              <a:rPr lang="en-US" sz="2200" b="1" dirty="0">
                <a:solidFill>
                  <a:srgbClr val="0070C0"/>
                </a:solidFill>
              </a:rPr>
              <a:t>(nifty)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297CD0-8B1A-4E25-8134-3EEBDD19D6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08472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514725" y="0"/>
            <a:ext cx="867727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682" y="1063368"/>
            <a:ext cx="1078772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# Applying Series on real time example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What fraction of days did the market close higher than the previous day’s close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Nifty[0]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Nifty[1]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Nifty[1] – nifty[0]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Nifty[1:]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Nifty[: -1]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Nifty [1:] – Nifty[:-1]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33DA50-9692-47A2-B076-A94671C782B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7996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609975" y="0"/>
            <a:ext cx="85820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682" y="1063368"/>
            <a:ext cx="107877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# Applying Series on real time example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What fraction of days did the market close higher than the previous day’s close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Nifty.values</a:t>
            </a:r>
            <a:r>
              <a:rPr lang="en-US" sz="2200" b="1" dirty="0">
                <a:solidFill>
                  <a:srgbClr val="0070C0"/>
                </a:solidFill>
              </a:rPr>
              <a:t>[1:] – </a:t>
            </a:r>
            <a:r>
              <a:rPr lang="en-US" sz="2200" b="1" dirty="0" err="1">
                <a:solidFill>
                  <a:srgbClr val="0070C0"/>
                </a:solidFill>
              </a:rPr>
              <a:t>nifty.values</a:t>
            </a:r>
            <a:r>
              <a:rPr lang="en-US" sz="2200" b="1" dirty="0">
                <a:solidFill>
                  <a:srgbClr val="0070C0"/>
                </a:solidFill>
              </a:rPr>
              <a:t>[:-1]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Nifty.values</a:t>
            </a:r>
            <a:r>
              <a:rPr lang="en-US" sz="2200" b="1" dirty="0">
                <a:solidFill>
                  <a:srgbClr val="0070C0"/>
                </a:solidFill>
              </a:rPr>
              <a:t>[1:] – </a:t>
            </a:r>
            <a:r>
              <a:rPr lang="en-US" sz="2200" b="1" dirty="0" err="1">
                <a:solidFill>
                  <a:srgbClr val="0070C0"/>
                </a:solidFill>
              </a:rPr>
              <a:t>nifty.values</a:t>
            </a:r>
            <a:r>
              <a:rPr lang="en-US" sz="2200" b="1" dirty="0">
                <a:solidFill>
                  <a:srgbClr val="0070C0"/>
                </a:solidFill>
              </a:rPr>
              <a:t>[:-1] &gt; 0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(</a:t>
            </a:r>
            <a:r>
              <a:rPr lang="en-US" sz="2200" b="1" dirty="0" err="1">
                <a:solidFill>
                  <a:srgbClr val="0070C0"/>
                </a:solidFill>
              </a:rPr>
              <a:t>Nifty.values</a:t>
            </a:r>
            <a:r>
              <a:rPr lang="en-US" sz="2200" b="1" dirty="0">
                <a:solidFill>
                  <a:srgbClr val="0070C0"/>
                </a:solidFill>
              </a:rPr>
              <a:t>[1:] – </a:t>
            </a:r>
            <a:r>
              <a:rPr lang="en-US" sz="2200" b="1" dirty="0" err="1">
                <a:solidFill>
                  <a:srgbClr val="0070C0"/>
                </a:solidFill>
              </a:rPr>
              <a:t>nifty.values</a:t>
            </a:r>
            <a:r>
              <a:rPr lang="en-US" sz="2200" b="1" dirty="0">
                <a:solidFill>
                  <a:srgbClr val="0070C0"/>
                </a:solidFill>
              </a:rPr>
              <a:t>[:-1] &gt; 0) / 245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(</a:t>
            </a:r>
            <a:r>
              <a:rPr lang="en-US" sz="2200" b="1" dirty="0" err="1">
                <a:solidFill>
                  <a:srgbClr val="0070C0"/>
                </a:solidFill>
              </a:rPr>
              <a:t>Nifty.values</a:t>
            </a:r>
            <a:r>
              <a:rPr lang="en-US" sz="2200" b="1" dirty="0">
                <a:solidFill>
                  <a:srgbClr val="0070C0"/>
                </a:solidFill>
              </a:rPr>
              <a:t>[1:] – </a:t>
            </a:r>
            <a:r>
              <a:rPr lang="en-US" sz="2200" b="1" dirty="0" err="1">
                <a:solidFill>
                  <a:srgbClr val="0070C0"/>
                </a:solidFill>
              </a:rPr>
              <a:t>nifty.values</a:t>
            </a:r>
            <a:r>
              <a:rPr lang="en-US" sz="2200" b="1" dirty="0">
                <a:solidFill>
                  <a:srgbClr val="0070C0"/>
                </a:solidFill>
              </a:rPr>
              <a:t>[:-1] &gt; 0) / </a:t>
            </a:r>
            <a:r>
              <a:rPr lang="en-US" sz="2200" b="1" dirty="0" err="1">
                <a:solidFill>
                  <a:srgbClr val="0070C0"/>
                </a:solidFill>
              </a:rPr>
              <a:t>len</a:t>
            </a:r>
            <a:r>
              <a:rPr lang="en-US" sz="2200" b="1" dirty="0">
                <a:solidFill>
                  <a:srgbClr val="0070C0"/>
                </a:solidFill>
              </a:rPr>
              <a:t>(nifty)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AD318F-C07B-4C64-B157-36DEE7DD58D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2912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681" y="1063368"/>
            <a:ext cx="10812191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# Applying Series on real time example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 marL="457200" indent="-457200">
              <a:buAutoNum type="arabicParenR"/>
              <a:defRPr/>
            </a:pPr>
            <a:r>
              <a:rPr lang="en-US" sz="2200" b="1" dirty="0">
                <a:solidFill>
                  <a:srgbClr val="0070C0"/>
                </a:solidFill>
              </a:rPr>
              <a:t>What fraction of days did the market close higher than the previous day’s close</a:t>
            </a:r>
          </a:p>
          <a:p>
            <a:pPr marL="457200" indent="-457200">
              <a:buAutoNum type="arabicParenR"/>
              <a:defRPr/>
            </a:pPr>
            <a:r>
              <a:rPr lang="en-US" sz="2200" b="1" dirty="0">
                <a:solidFill>
                  <a:srgbClr val="0070C0"/>
                </a:solidFill>
              </a:rPr>
              <a:t>Compute moving average of the last 5 days</a:t>
            </a:r>
          </a:p>
          <a:p>
            <a:pPr marL="457200" indent="-457200">
              <a:buAutoNum type="arabicParenR"/>
              <a:defRPr/>
            </a:pPr>
            <a:r>
              <a:rPr lang="en-US" sz="2200" b="1" dirty="0">
                <a:solidFill>
                  <a:srgbClr val="0070C0"/>
                </a:solidFill>
              </a:rPr>
              <a:t>Subset the data to include only data for Fridays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Questions 2&amp;3 involve working with the index it self which are in the string format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Nifty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Nifty.index</a:t>
            </a:r>
            <a:r>
              <a:rPr lang="en-US" sz="2200" b="1" dirty="0">
                <a:solidFill>
                  <a:srgbClr val="0070C0"/>
                </a:solidFill>
              </a:rPr>
              <a:t>[0]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pd.Timestamp</a:t>
            </a:r>
            <a:r>
              <a:rPr lang="en-US" sz="2200" b="1" dirty="0">
                <a:solidFill>
                  <a:srgbClr val="0070C0"/>
                </a:solidFill>
              </a:rPr>
              <a:t>(</a:t>
            </a:r>
            <a:r>
              <a:rPr lang="en-US" sz="2200" b="1" dirty="0" err="1">
                <a:solidFill>
                  <a:srgbClr val="0070C0"/>
                </a:solidFill>
              </a:rPr>
              <a:t>nifty.index</a:t>
            </a:r>
            <a:r>
              <a:rPr lang="en-US" sz="2200" b="1" dirty="0">
                <a:solidFill>
                  <a:srgbClr val="0070C0"/>
                </a:solidFill>
              </a:rPr>
              <a:t>[0])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d = </a:t>
            </a:r>
            <a:r>
              <a:rPr lang="en-US" sz="2200" b="1" dirty="0" err="1">
                <a:solidFill>
                  <a:srgbClr val="0070C0"/>
                </a:solidFill>
              </a:rPr>
              <a:t>pd.Timestamp</a:t>
            </a:r>
            <a:r>
              <a:rPr lang="en-US" sz="2200" b="1" dirty="0">
                <a:solidFill>
                  <a:srgbClr val="0070C0"/>
                </a:solidFill>
              </a:rPr>
              <a:t>(</a:t>
            </a:r>
            <a:r>
              <a:rPr lang="en-US" sz="2200" b="1" dirty="0" err="1">
                <a:solidFill>
                  <a:srgbClr val="0070C0"/>
                </a:solidFill>
              </a:rPr>
              <a:t>nifty.index</a:t>
            </a:r>
            <a:r>
              <a:rPr lang="en-US" sz="2200" b="1" dirty="0">
                <a:solidFill>
                  <a:srgbClr val="0070C0"/>
                </a:solidFill>
              </a:rPr>
              <a:t>[0])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d.dayofweek</a:t>
            </a:r>
            <a:endParaRPr lang="en-US" sz="2200" b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6B9475-FB4F-4A22-A0F3-1453AFCD470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6966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533775" y="0"/>
            <a:ext cx="86582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682" y="1063368"/>
            <a:ext cx="1078772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# Applying Series on real time example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New_index</a:t>
            </a:r>
            <a:r>
              <a:rPr lang="en-US" sz="2200" b="1" dirty="0">
                <a:solidFill>
                  <a:srgbClr val="0070C0"/>
                </a:solidFill>
              </a:rPr>
              <a:t> = map(</a:t>
            </a:r>
            <a:r>
              <a:rPr lang="en-US" sz="2200" b="1" dirty="0" err="1">
                <a:solidFill>
                  <a:srgbClr val="0070C0"/>
                </a:solidFill>
              </a:rPr>
              <a:t>pd.Timestamp</a:t>
            </a:r>
            <a:r>
              <a:rPr lang="en-US" sz="2200" b="1" dirty="0">
                <a:solidFill>
                  <a:srgbClr val="0070C0"/>
                </a:solidFill>
              </a:rPr>
              <a:t>, </a:t>
            </a:r>
            <a:r>
              <a:rPr lang="en-US" sz="2200" b="1" dirty="0" err="1">
                <a:solidFill>
                  <a:srgbClr val="0070C0"/>
                </a:solidFill>
              </a:rPr>
              <a:t>nify.index</a:t>
            </a:r>
            <a:r>
              <a:rPr lang="en-US" sz="2200" b="1" dirty="0">
                <a:solidFill>
                  <a:srgbClr val="0070C0"/>
                </a:solidFill>
              </a:rPr>
              <a:t>)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New_nifty</a:t>
            </a:r>
            <a:r>
              <a:rPr lang="en-US" sz="2200" b="1" dirty="0">
                <a:solidFill>
                  <a:srgbClr val="0070C0"/>
                </a:solidFill>
              </a:rPr>
              <a:t> = </a:t>
            </a:r>
            <a:r>
              <a:rPr lang="en-US" sz="2200" b="1" dirty="0" err="1">
                <a:solidFill>
                  <a:srgbClr val="0070C0"/>
                </a:solidFill>
              </a:rPr>
              <a:t>pd.series</a:t>
            </a:r>
            <a:r>
              <a:rPr lang="en-US" sz="2200" b="1" dirty="0">
                <a:solidFill>
                  <a:srgbClr val="0070C0"/>
                </a:solidFill>
              </a:rPr>
              <a:t>(nifty, index = </a:t>
            </a:r>
            <a:r>
              <a:rPr lang="en-US" sz="2200" b="1" dirty="0" err="1">
                <a:solidFill>
                  <a:srgbClr val="0070C0"/>
                </a:solidFill>
              </a:rPr>
              <a:t>new_index</a:t>
            </a:r>
            <a:r>
              <a:rPr lang="en-US" sz="2200" b="1" dirty="0">
                <a:solidFill>
                  <a:srgbClr val="0070C0"/>
                </a:solidFill>
              </a:rPr>
              <a:t>)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New_nifty</a:t>
            </a: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New_nifty.index</a:t>
            </a:r>
            <a:r>
              <a:rPr lang="en-US" sz="2200" b="1" dirty="0">
                <a:solidFill>
                  <a:srgbClr val="0070C0"/>
                </a:solidFill>
              </a:rPr>
              <a:t>[0]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#Compute moving average of the last 5 days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New_nifty.rolling</a:t>
            </a:r>
            <a:r>
              <a:rPr lang="en-US" sz="2200" b="1" dirty="0">
                <a:solidFill>
                  <a:srgbClr val="0070C0"/>
                </a:solidFill>
              </a:rPr>
              <a:t>(‘5d’).mean()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C8E599-6931-4FAD-A893-8F580BECBBA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7570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638550" y="0"/>
            <a:ext cx="8553449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Series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682" y="1063368"/>
            <a:ext cx="107877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# Applying Series on real time example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##Subset the data to include only data for Fridays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Dow = </a:t>
            </a:r>
            <a:r>
              <a:rPr lang="en-US" sz="2200" b="1" dirty="0" err="1">
                <a:solidFill>
                  <a:srgbClr val="0070C0"/>
                </a:solidFill>
              </a:rPr>
              <a:t>new_nifty.copy</a:t>
            </a:r>
            <a:r>
              <a:rPr lang="en-US" sz="2200" b="1" dirty="0">
                <a:solidFill>
                  <a:srgbClr val="0070C0"/>
                </a:solidFill>
              </a:rPr>
              <a:t>()</a:t>
            </a: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	for in </a:t>
            </a:r>
            <a:r>
              <a:rPr lang="en-US" sz="2200" b="1" dirty="0" err="1">
                <a:solidFill>
                  <a:srgbClr val="0070C0"/>
                </a:solidFill>
              </a:rPr>
              <a:t>dow.index</a:t>
            </a:r>
            <a:r>
              <a:rPr lang="en-US" sz="2200" b="1" dirty="0">
                <a:solidFill>
                  <a:srgbClr val="0070C0"/>
                </a:solidFill>
              </a:rPr>
              <a:t>:</a:t>
            </a: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		</a:t>
            </a:r>
            <a:r>
              <a:rPr lang="en-US" sz="2200" b="1" dirty="0" err="1">
                <a:solidFill>
                  <a:srgbClr val="0070C0"/>
                </a:solidFill>
              </a:rPr>
              <a:t>dow</a:t>
            </a:r>
            <a:r>
              <a:rPr lang="en-US" sz="2200" b="1" dirty="0">
                <a:solidFill>
                  <a:srgbClr val="0070C0"/>
                </a:solidFill>
              </a:rPr>
              <a:t>[</a:t>
            </a:r>
            <a:r>
              <a:rPr lang="en-US" sz="2200" b="1" dirty="0" err="1">
                <a:solidFill>
                  <a:srgbClr val="0070C0"/>
                </a:solidFill>
              </a:rPr>
              <a:t>i</a:t>
            </a:r>
            <a:r>
              <a:rPr lang="en-US" sz="2200" b="1" dirty="0">
                <a:solidFill>
                  <a:srgbClr val="0070C0"/>
                </a:solidFill>
              </a:rPr>
              <a:t>] = </a:t>
            </a:r>
            <a:r>
              <a:rPr lang="en-US" sz="2200" b="1" dirty="0" err="1">
                <a:solidFill>
                  <a:srgbClr val="0070C0"/>
                </a:solidFill>
              </a:rPr>
              <a:t>i.dayofweek</a:t>
            </a: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>
                <a:solidFill>
                  <a:srgbClr val="0070C0"/>
                </a:solidFill>
              </a:rPr>
              <a:t>Dow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200" b="1" dirty="0" err="1">
                <a:solidFill>
                  <a:srgbClr val="0070C0"/>
                </a:solidFill>
              </a:rPr>
              <a:t>New_nifty</a:t>
            </a:r>
            <a:r>
              <a:rPr lang="en-US" sz="2200" b="1" dirty="0">
                <a:solidFill>
                  <a:srgbClr val="0070C0"/>
                </a:solidFill>
              </a:rPr>
              <a:t>(</a:t>
            </a:r>
            <a:r>
              <a:rPr lang="en-US" sz="2200" b="1" dirty="0" err="1">
                <a:solidFill>
                  <a:srgbClr val="0070C0"/>
                </a:solidFill>
              </a:rPr>
              <a:t>dow</a:t>
            </a:r>
            <a:r>
              <a:rPr lang="en-US" sz="2200" b="1" dirty="0">
                <a:solidFill>
                  <a:srgbClr val="0070C0"/>
                </a:solidFill>
              </a:rPr>
              <a:t> == 4)</a:t>
            </a: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200" b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86A958-A910-404C-8122-E285BA1D8C5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11246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619500" y="0"/>
            <a:ext cx="8572499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4279" y="1755079"/>
            <a:ext cx="10787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DataFrame</a:t>
            </a:r>
            <a:r>
              <a:rPr lang="en-US" sz="2400" b="1" dirty="0">
                <a:solidFill>
                  <a:srgbClr val="0070C0"/>
                </a:solidFill>
              </a:rPr>
              <a:t> is a 2-dimensional labeled data structure with columns of potentially different types. You can think of it like a spreadsheet or SQL table, or a </a:t>
            </a:r>
            <a:r>
              <a:rPr lang="en-US" sz="2400" b="1" dirty="0" err="1">
                <a:solidFill>
                  <a:srgbClr val="0070C0"/>
                </a:solidFill>
              </a:rPr>
              <a:t>dict</a:t>
            </a:r>
            <a:r>
              <a:rPr lang="en-US" sz="2400" b="1" dirty="0">
                <a:solidFill>
                  <a:srgbClr val="0070C0"/>
                </a:solidFill>
              </a:rPr>
              <a:t> of Series objects.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983734-2C09-4C89-9CCC-661309A50D3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3779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267075" y="0"/>
            <a:ext cx="89249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4279" y="1755079"/>
            <a:ext cx="10787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DataFrame</a:t>
            </a:r>
            <a:r>
              <a:rPr lang="en-US" sz="2400" b="1" dirty="0">
                <a:solidFill>
                  <a:srgbClr val="0070C0"/>
                </a:solidFill>
              </a:rPr>
              <a:t> is a 2-dimensional labeled data structure with columns of potentially different types. You can think of it like a spreadsheet or SQL table, or a </a:t>
            </a:r>
            <a:r>
              <a:rPr lang="en-US" sz="2400" b="1" dirty="0" err="1">
                <a:solidFill>
                  <a:srgbClr val="0070C0"/>
                </a:solidFill>
              </a:rPr>
              <a:t>dict</a:t>
            </a:r>
            <a:r>
              <a:rPr lang="en-US" sz="2400" b="1" dirty="0">
                <a:solidFill>
                  <a:srgbClr val="0070C0"/>
                </a:solidFill>
              </a:rPr>
              <a:t> of Series objects.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58C9B1-6F75-405C-AE0C-74E0CD8FC1D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60135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4279" y="1225689"/>
            <a:ext cx="107877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Import </a:t>
            </a:r>
            <a:r>
              <a:rPr lang="en-US" sz="2400" b="1" dirty="0" err="1">
                <a:solidFill>
                  <a:srgbClr val="0070C0"/>
                </a:solidFill>
              </a:rPr>
              <a:t>Numpy</a:t>
            </a:r>
            <a:r>
              <a:rPr lang="en-US" sz="2400" b="1" dirty="0">
                <a:solidFill>
                  <a:srgbClr val="0070C0"/>
                </a:solidFill>
              </a:rPr>
              <a:t> as np</a:t>
            </a: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Import Pandas as </a:t>
            </a:r>
            <a:r>
              <a:rPr lang="en-US" sz="2400" b="1" dirty="0" err="1">
                <a:solidFill>
                  <a:srgbClr val="0070C0"/>
                </a:solidFill>
              </a:rPr>
              <a:t>pd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#Creating </a:t>
            </a:r>
            <a:r>
              <a:rPr lang="en-US" sz="2400" b="1" dirty="0" err="1">
                <a:solidFill>
                  <a:srgbClr val="0070C0"/>
                </a:solidFill>
              </a:rPr>
              <a:t>Dataframe</a:t>
            </a:r>
            <a:r>
              <a:rPr lang="en-US" sz="2400" b="1" dirty="0">
                <a:solidFill>
                  <a:srgbClr val="0070C0"/>
                </a:solidFill>
              </a:rPr>
              <a:t> Objects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Arr</a:t>
            </a:r>
            <a:r>
              <a:rPr lang="en-US" sz="2400" b="1" dirty="0">
                <a:solidFill>
                  <a:srgbClr val="0070C0"/>
                </a:solidFill>
              </a:rPr>
              <a:t> = </a:t>
            </a:r>
            <a:r>
              <a:rPr lang="en-US" sz="2400" b="1" dirty="0" err="1">
                <a:solidFill>
                  <a:srgbClr val="0070C0"/>
                </a:solidFill>
              </a:rPr>
              <a:t>np.random.randint</a:t>
            </a:r>
            <a:r>
              <a:rPr lang="en-US" sz="2400" b="1" dirty="0">
                <a:solidFill>
                  <a:srgbClr val="0070C0"/>
                </a:solidFill>
              </a:rPr>
              <a:t>(0, 10, (5, 3))</a:t>
            </a: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Arr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r>
              <a:rPr lang="en-US" sz="2400" b="1" dirty="0">
                <a:solidFill>
                  <a:srgbClr val="0070C0"/>
                </a:solidFill>
              </a:rPr>
              <a:t> = </a:t>
            </a:r>
            <a:r>
              <a:rPr lang="en-US" sz="2400" b="1" dirty="0" err="1">
                <a:solidFill>
                  <a:srgbClr val="0070C0"/>
                </a:solidFill>
              </a:rPr>
              <a:t>pd.DataFrame</a:t>
            </a:r>
            <a:r>
              <a:rPr lang="en-US" sz="2400" b="1" dirty="0">
                <a:solidFill>
                  <a:srgbClr val="0070C0"/>
                </a:solidFill>
              </a:rPr>
              <a:t>(</a:t>
            </a:r>
            <a:r>
              <a:rPr lang="en-US" sz="2400" b="1" dirty="0" err="1">
                <a:solidFill>
                  <a:srgbClr val="0070C0"/>
                </a:solidFill>
              </a:rPr>
              <a:t>arr</a:t>
            </a:r>
            <a:r>
              <a:rPr lang="en-US" sz="2400" b="1" dirty="0">
                <a:solidFill>
                  <a:srgbClr val="0070C0"/>
                </a:solidFill>
              </a:rPr>
              <a:t>)</a:t>
            </a: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Df.values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Df.index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Df.columns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Df.values</a:t>
            </a:r>
            <a:r>
              <a:rPr lang="en-US" sz="2400" b="1" dirty="0">
                <a:solidFill>
                  <a:srgbClr val="0070C0"/>
                </a:solidFill>
              </a:rPr>
              <a:t>[0]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B5C5B8-1A99-4959-8261-FF361D91E12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19256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4279" y="1297624"/>
            <a:ext cx="999339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Df.index</a:t>
            </a:r>
            <a:r>
              <a:rPr lang="en-US" sz="2400" b="1" dirty="0">
                <a:solidFill>
                  <a:srgbClr val="0070C0"/>
                </a:solidFill>
              </a:rPr>
              <a:t> =[‘R1’, ‘R2’, ‘R3’, ‘R4’, ‘R5’]</a:t>
            </a: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Df.columns</a:t>
            </a:r>
            <a:r>
              <a:rPr lang="en-US" sz="2400" b="1" dirty="0">
                <a:solidFill>
                  <a:srgbClr val="0070C0"/>
                </a:solidFill>
              </a:rPr>
              <a:t> = [c1, c2, c3]</a:t>
            </a: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DF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Implicitly obtain the appropriate locks for your application at the point at which they are needed. An operation that reads an object will obtain a read lock; an operation that modifies an object will obtain a write lock.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fontAlgn="base">
              <a:defRPr/>
            </a:pPr>
            <a:r>
              <a:rPr lang="en-US" sz="2400" b="1" dirty="0">
                <a:solidFill>
                  <a:srgbClr val="0070C0"/>
                </a:solidFill>
              </a:rPr>
              <a:t>Explicit Lock: - Lock is explicitly requested for a record or table.</a:t>
            </a:r>
          </a:p>
          <a:p>
            <a:pPr fontAlgn="base">
              <a:defRPr/>
            </a:pPr>
            <a:r>
              <a:rPr lang="en-US" sz="2400" b="1" dirty="0">
                <a:solidFill>
                  <a:srgbClr val="0070C0"/>
                </a:solidFill>
              </a:rPr>
              <a:t>Implicit Lock: - Lock is implied but is not acquired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Df.loc</a:t>
            </a:r>
            <a:r>
              <a:rPr lang="en-US" sz="2400" b="1" dirty="0">
                <a:solidFill>
                  <a:srgbClr val="0070C0"/>
                </a:solidFill>
              </a:rPr>
              <a:t>[R3, C2]</a:t>
            </a: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Df.iloc</a:t>
            </a:r>
            <a:r>
              <a:rPr lang="en-US" sz="2400" b="1" dirty="0">
                <a:solidFill>
                  <a:srgbClr val="0070C0"/>
                </a:solidFill>
              </a:rPr>
              <a:t>[2, 1]</a:t>
            </a: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Df.iloc</a:t>
            </a:r>
            <a:r>
              <a:rPr lang="en-US" sz="2400" b="1" dirty="0">
                <a:solidFill>
                  <a:srgbClr val="0070C0"/>
                </a:solidFill>
              </a:rPr>
              <a:t>[2:4, 1:3]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23A129-2A2C-4489-A01E-2B3BDB9980D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2513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3443" y="1241962"/>
            <a:ext cx="99933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Df.loc</a:t>
            </a:r>
            <a:r>
              <a:rPr lang="en-US" sz="2400" b="1" dirty="0">
                <a:solidFill>
                  <a:srgbClr val="0070C0"/>
                </a:solidFill>
              </a:rPr>
              <a:t> =[‘R3’: ‘R5’, ‘c2’ : ‘c3’]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Df.iloc</a:t>
            </a:r>
            <a:r>
              <a:rPr lang="en-US" sz="2400" b="1" dirty="0">
                <a:solidFill>
                  <a:srgbClr val="0070C0"/>
                </a:solidFill>
              </a:rPr>
              <a:t>[0]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Type(</a:t>
            </a:r>
            <a:r>
              <a:rPr lang="en-US" sz="2400" b="1" dirty="0" err="1">
                <a:solidFill>
                  <a:srgbClr val="0070C0"/>
                </a:solidFill>
              </a:rPr>
              <a:t>df.iloc</a:t>
            </a:r>
            <a:r>
              <a:rPr lang="en-US" sz="2400" b="1" dirty="0">
                <a:solidFill>
                  <a:srgbClr val="0070C0"/>
                </a:solidFill>
              </a:rPr>
              <a:t>[0])   # you can think of </a:t>
            </a: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r>
              <a:rPr lang="en-US" sz="2400" b="1" dirty="0">
                <a:solidFill>
                  <a:srgbClr val="0070C0"/>
                </a:solidFill>
              </a:rPr>
              <a:t> as a collection of series in both x and y 			axis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Df.iloc</a:t>
            </a:r>
            <a:r>
              <a:rPr lang="en-US" sz="2400" b="1" dirty="0">
                <a:solidFill>
                  <a:srgbClr val="0070C0"/>
                </a:solidFill>
              </a:rPr>
              <a:t>[:, 0]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Df.shape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Df.T</a:t>
            </a:r>
            <a:r>
              <a:rPr lang="en-US" sz="2400" b="1" dirty="0">
                <a:solidFill>
                  <a:srgbClr val="0070C0"/>
                </a:solidFill>
              </a:rPr>
              <a:t>			# Transpose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6834909" y="3925455"/>
            <a:ext cx="2595418" cy="4248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6834909" y="4388280"/>
            <a:ext cx="2595418" cy="4248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le 10"/>
          <p:cNvSpPr/>
          <p:nvPr/>
        </p:nvSpPr>
        <p:spPr>
          <a:xfrm>
            <a:off x="6834909" y="4873697"/>
            <a:ext cx="2595418" cy="4248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ounded Rectangle 11"/>
          <p:cNvSpPr/>
          <p:nvPr/>
        </p:nvSpPr>
        <p:spPr>
          <a:xfrm>
            <a:off x="6858000" y="5365246"/>
            <a:ext cx="2595418" cy="4248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6858000" y="5859892"/>
            <a:ext cx="2595418" cy="4248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ounded Rectangle 13"/>
          <p:cNvSpPr/>
          <p:nvPr/>
        </p:nvSpPr>
        <p:spPr>
          <a:xfrm rot="5400000">
            <a:off x="6039657" y="4873697"/>
            <a:ext cx="2595418" cy="4248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ounded Rectangle 14"/>
          <p:cNvSpPr/>
          <p:nvPr/>
        </p:nvSpPr>
        <p:spPr>
          <a:xfrm rot="5400000">
            <a:off x="6834909" y="4873697"/>
            <a:ext cx="2595418" cy="4248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ounded Rectangle 15"/>
          <p:cNvSpPr/>
          <p:nvPr/>
        </p:nvSpPr>
        <p:spPr>
          <a:xfrm rot="5400000">
            <a:off x="7630162" y="4849516"/>
            <a:ext cx="2595418" cy="4248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EC4F5D7-F672-4D33-BDC0-B24B57590DE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93815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4279" y="1297624"/>
            <a:ext cx="999339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#  Write a function to create data frame with n rows and n columns 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Def </a:t>
            </a:r>
            <a:r>
              <a:rPr lang="en-US" sz="2400" b="1" dirty="0" err="1">
                <a:solidFill>
                  <a:srgbClr val="0070C0"/>
                </a:solidFill>
              </a:rPr>
              <a:t>create_df</a:t>
            </a:r>
            <a:r>
              <a:rPr lang="en-US" sz="2400" b="1" dirty="0">
                <a:solidFill>
                  <a:srgbClr val="0070C0"/>
                </a:solidFill>
              </a:rPr>
              <a:t>(</a:t>
            </a:r>
            <a:r>
              <a:rPr lang="en-US" sz="2400" b="1" dirty="0" err="1">
                <a:solidFill>
                  <a:srgbClr val="0070C0"/>
                </a:solidFill>
              </a:rPr>
              <a:t>nrows</a:t>
            </a:r>
            <a:r>
              <a:rPr lang="en-US" sz="2400" b="1" dirty="0">
                <a:solidFill>
                  <a:srgbClr val="0070C0"/>
                </a:solidFill>
              </a:rPr>
              <a:t>, </a:t>
            </a:r>
            <a:r>
              <a:rPr lang="en-US" sz="2400" b="1" dirty="0" err="1">
                <a:solidFill>
                  <a:srgbClr val="0070C0"/>
                </a:solidFill>
              </a:rPr>
              <a:t>ncols</a:t>
            </a:r>
            <a:r>
              <a:rPr lang="en-US" sz="2400" b="1" dirty="0">
                <a:solidFill>
                  <a:srgbClr val="0070C0"/>
                </a:solidFill>
              </a:rPr>
              <a:t>, </a:t>
            </a:r>
            <a:r>
              <a:rPr lang="en-US" sz="2400" b="1" dirty="0" err="1">
                <a:solidFill>
                  <a:srgbClr val="0070C0"/>
                </a:solidFill>
              </a:rPr>
              <a:t>maxrand</a:t>
            </a:r>
            <a:r>
              <a:rPr lang="en-US" sz="2400" b="1" dirty="0">
                <a:solidFill>
                  <a:srgbClr val="0070C0"/>
                </a:solidFill>
              </a:rPr>
              <a:t> = 10):</a:t>
            </a: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	</a:t>
            </a:r>
            <a:r>
              <a:rPr lang="en-US" sz="2400" b="1" dirty="0" err="1">
                <a:solidFill>
                  <a:srgbClr val="0070C0"/>
                </a:solidFill>
              </a:rPr>
              <a:t>arr</a:t>
            </a:r>
            <a:r>
              <a:rPr lang="en-US" sz="2400" b="1" dirty="0">
                <a:solidFill>
                  <a:srgbClr val="0070C0"/>
                </a:solidFill>
              </a:rPr>
              <a:t> = </a:t>
            </a:r>
            <a:r>
              <a:rPr lang="en-US" sz="2400" b="1" dirty="0" err="1">
                <a:solidFill>
                  <a:srgbClr val="0070C0"/>
                </a:solidFill>
              </a:rPr>
              <a:t>np.random.randint</a:t>
            </a:r>
            <a:r>
              <a:rPr lang="en-US" sz="2400" b="1" dirty="0">
                <a:solidFill>
                  <a:srgbClr val="0070C0"/>
                </a:solidFill>
              </a:rPr>
              <a:t>(0, </a:t>
            </a:r>
            <a:r>
              <a:rPr lang="en-US" sz="2400" b="1" dirty="0" err="1">
                <a:solidFill>
                  <a:srgbClr val="0070C0"/>
                </a:solidFill>
              </a:rPr>
              <a:t>maxrand</a:t>
            </a:r>
            <a:r>
              <a:rPr lang="en-US" sz="2400" b="1" dirty="0">
                <a:solidFill>
                  <a:srgbClr val="0070C0"/>
                </a:solidFill>
              </a:rPr>
              <a:t>, (</a:t>
            </a:r>
            <a:r>
              <a:rPr lang="en-US" sz="2400" b="1" dirty="0" err="1">
                <a:solidFill>
                  <a:srgbClr val="0070C0"/>
                </a:solidFill>
              </a:rPr>
              <a:t>nrows</a:t>
            </a:r>
            <a:r>
              <a:rPr lang="en-US" sz="2400" b="1" dirty="0">
                <a:solidFill>
                  <a:srgbClr val="0070C0"/>
                </a:solidFill>
              </a:rPr>
              <a:t>, </a:t>
            </a:r>
            <a:r>
              <a:rPr lang="en-US" sz="2400" b="1" dirty="0" err="1">
                <a:solidFill>
                  <a:srgbClr val="0070C0"/>
                </a:solidFill>
              </a:rPr>
              <a:t>ncols</a:t>
            </a:r>
            <a:r>
              <a:rPr lang="en-US" sz="2400" b="1" dirty="0">
                <a:solidFill>
                  <a:srgbClr val="0070C0"/>
                </a:solidFill>
              </a:rPr>
              <a:t>))</a:t>
            </a: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	</a:t>
            </a: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r>
              <a:rPr lang="en-US" sz="2400" b="1" dirty="0">
                <a:solidFill>
                  <a:srgbClr val="0070C0"/>
                </a:solidFill>
              </a:rPr>
              <a:t> = </a:t>
            </a:r>
            <a:r>
              <a:rPr lang="en-US" sz="2400" b="1" dirty="0" err="1">
                <a:solidFill>
                  <a:srgbClr val="0070C0"/>
                </a:solidFill>
              </a:rPr>
              <a:t>pd.DataFrame</a:t>
            </a:r>
            <a:r>
              <a:rPr lang="en-US" sz="2400" b="1" dirty="0">
                <a:solidFill>
                  <a:srgbClr val="0070C0"/>
                </a:solidFill>
              </a:rPr>
              <a:t>(</a:t>
            </a:r>
            <a:r>
              <a:rPr lang="en-US" sz="2400" b="1" dirty="0" err="1">
                <a:solidFill>
                  <a:srgbClr val="0070C0"/>
                </a:solidFill>
              </a:rPr>
              <a:t>arr</a:t>
            </a:r>
            <a:r>
              <a:rPr lang="en-US" sz="2400" b="1" dirty="0">
                <a:solidFill>
                  <a:srgbClr val="0070C0"/>
                </a:solidFill>
              </a:rPr>
              <a:t>)</a:t>
            </a: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	</a:t>
            </a:r>
            <a:r>
              <a:rPr lang="en-US" sz="2400" b="1" dirty="0" err="1">
                <a:solidFill>
                  <a:srgbClr val="0070C0"/>
                </a:solidFill>
              </a:rPr>
              <a:t>df.index</a:t>
            </a:r>
            <a:r>
              <a:rPr lang="en-US" sz="2400" b="1" dirty="0">
                <a:solidFill>
                  <a:srgbClr val="0070C0"/>
                </a:solidFill>
              </a:rPr>
              <a:t> = [‘R’ + </a:t>
            </a:r>
            <a:r>
              <a:rPr lang="en-US" sz="2400" b="1" dirty="0" err="1">
                <a:solidFill>
                  <a:srgbClr val="0070C0"/>
                </a:solidFill>
              </a:rPr>
              <a:t>str</a:t>
            </a:r>
            <a:r>
              <a:rPr lang="en-US" sz="2400" b="1" dirty="0">
                <a:solidFill>
                  <a:srgbClr val="0070C0"/>
                </a:solidFill>
              </a:rPr>
              <a:t>(x) for x in </a:t>
            </a:r>
            <a:r>
              <a:rPr lang="en-US" sz="2400" b="1" dirty="0" err="1">
                <a:solidFill>
                  <a:srgbClr val="0070C0"/>
                </a:solidFill>
              </a:rPr>
              <a:t>np.arange</a:t>
            </a:r>
            <a:r>
              <a:rPr lang="en-US" sz="2400" b="1" dirty="0">
                <a:solidFill>
                  <a:srgbClr val="0070C0"/>
                </a:solidFill>
              </a:rPr>
              <a:t>(1, </a:t>
            </a:r>
            <a:r>
              <a:rPr lang="en-US" sz="2400" b="1" dirty="0" err="1">
                <a:solidFill>
                  <a:srgbClr val="0070C0"/>
                </a:solidFill>
              </a:rPr>
              <a:t>nrows</a:t>
            </a:r>
            <a:r>
              <a:rPr lang="en-US" sz="2400" b="1" dirty="0">
                <a:solidFill>
                  <a:srgbClr val="0070C0"/>
                </a:solidFill>
              </a:rPr>
              <a:t> + 1)]</a:t>
            </a: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	</a:t>
            </a:r>
            <a:r>
              <a:rPr lang="en-US" sz="2400" b="1" dirty="0" err="1">
                <a:solidFill>
                  <a:srgbClr val="0070C0"/>
                </a:solidFill>
              </a:rPr>
              <a:t>df.coloumns</a:t>
            </a:r>
            <a:r>
              <a:rPr lang="en-US" sz="2400" b="1" dirty="0">
                <a:solidFill>
                  <a:srgbClr val="0070C0"/>
                </a:solidFill>
              </a:rPr>
              <a:t> = [‘C’ + </a:t>
            </a:r>
            <a:r>
              <a:rPr lang="en-US" sz="2400" b="1" dirty="0" err="1">
                <a:solidFill>
                  <a:srgbClr val="0070C0"/>
                </a:solidFill>
              </a:rPr>
              <a:t>str</a:t>
            </a:r>
            <a:r>
              <a:rPr lang="en-US" sz="2400" b="1" dirty="0">
                <a:solidFill>
                  <a:srgbClr val="0070C0"/>
                </a:solidFill>
              </a:rPr>
              <a:t>(x) for x in </a:t>
            </a:r>
            <a:r>
              <a:rPr lang="en-US" sz="2400" b="1" dirty="0" err="1">
                <a:solidFill>
                  <a:srgbClr val="0070C0"/>
                </a:solidFill>
              </a:rPr>
              <a:t>np.arange</a:t>
            </a:r>
            <a:r>
              <a:rPr lang="en-US" sz="2400" b="1" dirty="0">
                <a:solidFill>
                  <a:srgbClr val="0070C0"/>
                </a:solidFill>
              </a:rPr>
              <a:t>(1, </a:t>
            </a:r>
            <a:r>
              <a:rPr lang="en-US" sz="2400" b="1" dirty="0" err="1">
                <a:solidFill>
                  <a:srgbClr val="0070C0"/>
                </a:solidFill>
              </a:rPr>
              <a:t>ncols</a:t>
            </a:r>
            <a:r>
              <a:rPr lang="en-US" sz="2400" b="1" dirty="0">
                <a:solidFill>
                  <a:srgbClr val="0070C0"/>
                </a:solidFill>
              </a:rPr>
              <a:t> + 1)]</a:t>
            </a: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	return </a:t>
            </a: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Create_df</a:t>
            </a:r>
            <a:r>
              <a:rPr lang="en-US" sz="2400" b="1" dirty="0">
                <a:solidFill>
                  <a:srgbClr val="0070C0"/>
                </a:solidFill>
              </a:rPr>
              <a:t>(5, 3)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Create_df</a:t>
            </a:r>
            <a:r>
              <a:rPr lang="en-US" sz="2400" b="1" dirty="0">
                <a:solidFill>
                  <a:srgbClr val="0070C0"/>
                </a:solidFill>
              </a:rPr>
              <a:t>(2, 5)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153F8E-590C-4C8E-B1EB-7C5D9A9D384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8A5592-FF1D-47EC-A343-554C7E839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351" y="4478733"/>
            <a:ext cx="7773485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649054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4279" y="1297624"/>
            <a:ext cx="9993394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#  Creating a Data Frame using multiple Series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r>
              <a:rPr lang="en-IN" dirty="0">
                <a:solidFill>
                  <a:srgbClr val="0070C0"/>
                </a:solidFill>
              </a:rPr>
              <a:t>mass1 = </a:t>
            </a:r>
            <a:r>
              <a:rPr lang="en-IN" dirty="0" err="1">
                <a:solidFill>
                  <a:srgbClr val="0070C0"/>
                </a:solidFill>
              </a:rPr>
              <a:t>pd.Series</a:t>
            </a:r>
            <a:r>
              <a:rPr lang="en-IN" dirty="0">
                <a:solidFill>
                  <a:srgbClr val="0070C0"/>
                </a:solidFill>
              </a:rPr>
              <a:t>((0.33, 4.07, 5.97, 0.642, 1090, 568, 86.0, 102, 0.0146, 0.000292), index = ['mercury', '</a:t>
            </a:r>
            <a:r>
              <a:rPr lang="en-IN" dirty="0" err="1">
                <a:solidFill>
                  <a:srgbClr val="0070C0"/>
                </a:solidFill>
              </a:rPr>
              <a:t>venus</a:t>
            </a:r>
            <a:r>
              <a:rPr lang="en-IN" dirty="0">
                <a:solidFill>
                  <a:srgbClr val="0070C0"/>
                </a:solidFill>
              </a:rPr>
              <a:t>', 'earth', 'mars', '</a:t>
            </a:r>
            <a:r>
              <a:rPr lang="en-IN" dirty="0" err="1">
                <a:solidFill>
                  <a:srgbClr val="0070C0"/>
                </a:solidFill>
              </a:rPr>
              <a:t>jupiter</a:t>
            </a:r>
            <a:r>
              <a:rPr lang="en-IN" dirty="0">
                <a:solidFill>
                  <a:srgbClr val="0070C0"/>
                </a:solidFill>
              </a:rPr>
              <a:t>', '</a:t>
            </a:r>
            <a:r>
              <a:rPr lang="en-IN" dirty="0" err="1">
                <a:solidFill>
                  <a:srgbClr val="0070C0"/>
                </a:solidFill>
              </a:rPr>
              <a:t>saturn</a:t>
            </a:r>
            <a:r>
              <a:rPr lang="en-IN" dirty="0">
                <a:solidFill>
                  <a:srgbClr val="0070C0"/>
                </a:solidFill>
              </a:rPr>
              <a:t>', '</a:t>
            </a:r>
            <a:r>
              <a:rPr lang="en-IN" dirty="0" err="1">
                <a:solidFill>
                  <a:srgbClr val="0070C0"/>
                </a:solidFill>
              </a:rPr>
              <a:t>uranus</a:t>
            </a:r>
            <a:r>
              <a:rPr lang="en-IN" dirty="0">
                <a:solidFill>
                  <a:srgbClr val="0070C0"/>
                </a:solidFill>
              </a:rPr>
              <a:t>', '</a:t>
            </a:r>
            <a:r>
              <a:rPr lang="en-IN" dirty="0" err="1">
                <a:solidFill>
                  <a:srgbClr val="0070C0"/>
                </a:solidFill>
              </a:rPr>
              <a:t>neptune</a:t>
            </a:r>
            <a:r>
              <a:rPr lang="en-IN" dirty="0">
                <a:solidFill>
                  <a:srgbClr val="0070C0"/>
                </a:solidFill>
              </a:rPr>
              <a:t>', '</a:t>
            </a:r>
            <a:r>
              <a:rPr lang="en-IN" dirty="0" err="1">
                <a:solidFill>
                  <a:srgbClr val="0070C0"/>
                </a:solidFill>
              </a:rPr>
              <a:t>pluto</a:t>
            </a:r>
            <a:r>
              <a:rPr lang="en-IN" dirty="0">
                <a:solidFill>
                  <a:srgbClr val="0070C0"/>
                </a:solidFill>
              </a:rPr>
              <a:t>', '</a:t>
            </a:r>
            <a:r>
              <a:rPr lang="en-IN" dirty="0" err="1">
                <a:solidFill>
                  <a:srgbClr val="0070C0"/>
                </a:solidFill>
              </a:rPr>
              <a:t>eris</a:t>
            </a:r>
            <a:r>
              <a:rPr lang="en-IN" dirty="0">
                <a:solidFill>
                  <a:srgbClr val="0070C0"/>
                </a:solidFill>
              </a:rPr>
              <a:t>'])</a:t>
            </a:r>
          </a:p>
          <a:p>
            <a:r>
              <a:rPr lang="en-IN" dirty="0">
                <a:solidFill>
                  <a:srgbClr val="0070C0"/>
                </a:solidFill>
              </a:rPr>
              <a:t>#print(mass1)</a:t>
            </a:r>
          </a:p>
          <a:p>
            <a:r>
              <a:rPr lang="en-IN" dirty="0">
                <a:solidFill>
                  <a:srgbClr val="0070C0"/>
                </a:solidFill>
              </a:rPr>
              <a:t>dia1 = </a:t>
            </a:r>
            <a:r>
              <a:rPr lang="en-IN" dirty="0" err="1">
                <a:solidFill>
                  <a:srgbClr val="0070C0"/>
                </a:solidFill>
              </a:rPr>
              <a:t>pd.Series</a:t>
            </a:r>
            <a:r>
              <a:rPr lang="en-IN" dirty="0">
                <a:solidFill>
                  <a:srgbClr val="0070C0"/>
                </a:solidFill>
              </a:rPr>
              <a:t>((4079, 12104, 12756, 3475, 6792, 142904, 120536, 51110, 49528, 2370, 2326), index = ['mercury', '</a:t>
            </a:r>
            <a:r>
              <a:rPr lang="en-IN" dirty="0" err="1">
                <a:solidFill>
                  <a:srgbClr val="0070C0"/>
                </a:solidFill>
              </a:rPr>
              <a:t>venus</a:t>
            </a:r>
            <a:r>
              <a:rPr lang="en-IN" dirty="0">
                <a:solidFill>
                  <a:srgbClr val="0070C0"/>
                </a:solidFill>
              </a:rPr>
              <a:t>', 'earth', 'moon', 'mars', '</a:t>
            </a:r>
            <a:r>
              <a:rPr lang="en-IN" dirty="0" err="1">
                <a:solidFill>
                  <a:srgbClr val="0070C0"/>
                </a:solidFill>
              </a:rPr>
              <a:t>jupiter</a:t>
            </a:r>
            <a:r>
              <a:rPr lang="en-IN" dirty="0">
                <a:solidFill>
                  <a:srgbClr val="0070C0"/>
                </a:solidFill>
              </a:rPr>
              <a:t>', '</a:t>
            </a:r>
            <a:r>
              <a:rPr lang="en-IN" dirty="0" err="1">
                <a:solidFill>
                  <a:srgbClr val="0070C0"/>
                </a:solidFill>
              </a:rPr>
              <a:t>saturn</a:t>
            </a:r>
            <a:r>
              <a:rPr lang="en-IN" dirty="0">
                <a:solidFill>
                  <a:srgbClr val="0070C0"/>
                </a:solidFill>
              </a:rPr>
              <a:t>', '</a:t>
            </a:r>
            <a:r>
              <a:rPr lang="en-IN" dirty="0" err="1">
                <a:solidFill>
                  <a:srgbClr val="0070C0"/>
                </a:solidFill>
              </a:rPr>
              <a:t>uranus</a:t>
            </a:r>
            <a:r>
              <a:rPr lang="en-IN" dirty="0">
                <a:solidFill>
                  <a:srgbClr val="0070C0"/>
                </a:solidFill>
              </a:rPr>
              <a:t>', '</a:t>
            </a:r>
            <a:r>
              <a:rPr lang="en-IN" dirty="0" err="1">
                <a:solidFill>
                  <a:srgbClr val="0070C0"/>
                </a:solidFill>
              </a:rPr>
              <a:t>neptune</a:t>
            </a:r>
            <a:r>
              <a:rPr lang="en-IN" dirty="0">
                <a:solidFill>
                  <a:srgbClr val="0070C0"/>
                </a:solidFill>
              </a:rPr>
              <a:t>', '</a:t>
            </a:r>
            <a:r>
              <a:rPr lang="en-IN" dirty="0" err="1">
                <a:solidFill>
                  <a:srgbClr val="0070C0"/>
                </a:solidFill>
              </a:rPr>
              <a:t>pluto</a:t>
            </a:r>
            <a:r>
              <a:rPr lang="en-IN" dirty="0">
                <a:solidFill>
                  <a:srgbClr val="0070C0"/>
                </a:solidFill>
              </a:rPr>
              <a:t>', '</a:t>
            </a:r>
            <a:r>
              <a:rPr lang="en-IN" dirty="0" err="1">
                <a:solidFill>
                  <a:srgbClr val="0070C0"/>
                </a:solidFill>
              </a:rPr>
              <a:t>eris</a:t>
            </a:r>
            <a:r>
              <a:rPr lang="en-IN" dirty="0">
                <a:solidFill>
                  <a:srgbClr val="0070C0"/>
                </a:solidFill>
              </a:rPr>
              <a:t>'])</a:t>
            </a:r>
          </a:p>
          <a:p>
            <a:r>
              <a:rPr lang="en-IN" dirty="0">
                <a:solidFill>
                  <a:srgbClr val="0070C0"/>
                </a:solidFill>
              </a:rPr>
              <a:t>#print(dia1)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r>
              <a:rPr lang="en-US" sz="2400" b="1" dirty="0">
                <a:solidFill>
                  <a:srgbClr val="0070C0"/>
                </a:solidFill>
              </a:rPr>
              <a:t> = </a:t>
            </a:r>
            <a:r>
              <a:rPr lang="en-US" sz="2400" b="1" dirty="0" err="1">
                <a:solidFill>
                  <a:srgbClr val="0070C0"/>
                </a:solidFill>
              </a:rPr>
              <a:t>pd.DataFrame</a:t>
            </a:r>
            <a:r>
              <a:rPr lang="en-US" sz="2400" b="1" dirty="0">
                <a:solidFill>
                  <a:srgbClr val="0070C0"/>
                </a:solidFill>
              </a:rPr>
              <a:t>({‘mass’ : mass1, ‘diameter’, dia1})</a:t>
            </a: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r>
              <a:rPr lang="en-US" sz="2400" b="1" dirty="0">
                <a:solidFill>
                  <a:srgbClr val="0070C0"/>
                </a:solidFill>
              </a:rPr>
              <a:t>[‘mass’]</a:t>
            </a: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r>
              <a:rPr lang="en-US" sz="2400" b="1" dirty="0">
                <a:solidFill>
                  <a:srgbClr val="0070C0"/>
                </a:solidFill>
              </a:rPr>
              <a:t>[‘diameter’]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r>
              <a:rPr lang="en-US" sz="2400" b="1" dirty="0">
                <a:solidFill>
                  <a:srgbClr val="0070C0"/>
                </a:solidFill>
              </a:rPr>
              <a:t>[‘earth’]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BBD133-C9E0-4C79-AC84-6E258B83BF3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00411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409950" y="0"/>
            <a:ext cx="8782049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4279" y="1297624"/>
            <a:ext cx="999339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#  Creating a Data Frame using multiple Series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r>
              <a:rPr lang="en-US" sz="2400" b="1" dirty="0">
                <a:solidFill>
                  <a:srgbClr val="0070C0"/>
                </a:solidFill>
              </a:rPr>
              <a:t>[‘mass’][‘earth’]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Df.mass.earth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#  Creating a new </a:t>
            </a:r>
            <a:r>
              <a:rPr lang="en-US" sz="2400" b="1" dirty="0" err="1">
                <a:solidFill>
                  <a:srgbClr val="0070C0"/>
                </a:solidFill>
              </a:rPr>
              <a:t>coloumn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r>
              <a:rPr lang="en-US" sz="2400" b="1" dirty="0">
                <a:solidFill>
                  <a:srgbClr val="0070C0"/>
                </a:solidFill>
              </a:rPr>
              <a:t>[‘pop’] = 0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r>
              <a:rPr lang="en-US" sz="2400" b="1" dirty="0">
                <a:solidFill>
                  <a:srgbClr val="0070C0"/>
                </a:solidFill>
              </a:rPr>
              <a:t>[‘pop’][‘earth’] =8000000000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endParaRPr lang="en-US" sz="2400" b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D9089F-0661-4F53-A914-DA7E171E0E4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58160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543300" y="0"/>
            <a:ext cx="8648699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4279" y="1297624"/>
            <a:ext cx="999339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#  Creating a Data Frame using multiple Series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r>
              <a:rPr lang="en-US" sz="2400" b="1" dirty="0">
                <a:solidFill>
                  <a:srgbClr val="0070C0"/>
                </a:solidFill>
              </a:rPr>
              <a:t>[‘mass’] == </a:t>
            </a:r>
            <a:r>
              <a:rPr lang="en-US" sz="2400" b="1" dirty="0" err="1">
                <a:solidFill>
                  <a:srgbClr val="0070C0"/>
                </a:solidFill>
              </a:rPr>
              <a:t>df.mass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r>
              <a:rPr lang="en-US" sz="2400" b="1" dirty="0">
                <a:solidFill>
                  <a:srgbClr val="0070C0"/>
                </a:solidFill>
              </a:rPr>
              <a:t>[‘mass’] is </a:t>
            </a:r>
            <a:r>
              <a:rPr lang="en-US" sz="2400" b="1" dirty="0" err="1">
                <a:solidFill>
                  <a:srgbClr val="0070C0"/>
                </a:solidFill>
              </a:rPr>
              <a:t>df.mass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r>
              <a:rPr lang="en-US" sz="2400" b="1" dirty="0">
                <a:solidFill>
                  <a:srgbClr val="0070C0"/>
                </a:solidFill>
              </a:rPr>
              <a:t>[pop] is </a:t>
            </a:r>
            <a:r>
              <a:rPr lang="en-US" sz="2400" b="1" dirty="0" err="1">
                <a:solidFill>
                  <a:srgbClr val="0070C0"/>
                </a:solidFill>
              </a:rPr>
              <a:t>df.pop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Df.pop</a:t>
            </a:r>
            <a:r>
              <a:rPr lang="en-US" sz="2400" b="1" dirty="0">
                <a:solidFill>
                  <a:srgbClr val="0070C0"/>
                </a:solidFill>
              </a:rPr>
              <a:t>			# pop function pops an item from the data frame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Df.loc</a:t>
            </a:r>
            <a:r>
              <a:rPr lang="en-US" sz="2400" b="1" dirty="0">
                <a:solidFill>
                  <a:srgbClr val="0070C0"/>
                </a:solidFill>
              </a:rPr>
              <a:t> [‘earth’]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Df.loc</a:t>
            </a:r>
            <a:r>
              <a:rPr lang="en-US" sz="2400" b="1" dirty="0">
                <a:solidFill>
                  <a:srgbClr val="0070C0"/>
                </a:solidFill>
              </a:rPr>
              <a:t>[:, mass]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AC4EBC-88A0-412B-BF4C-77C14B280FB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90121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486150" y="0"/>
            <a:ext cx="8705849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4279" y="1104847"/>
            <a:ext cx="999339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#  Creating a new row</a:t>
            </a: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Df.loc</a:t>
            </a:r>
            <a:r>
              <a:rPr lang="en-US" sz="2400" b="1" dirty="0">
                <a:solidFill>
                  <a:srgbClr val="0070C0"/>
                </a:solidFill>
              </a:rPr>
              <a:t>[‘mean’] = 0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Df.drop</a:t>
            </a:r>
            <a:r>
              <a:rPr lang="en-US" sz="2400" b="1" dirty="0">
                <a:solidFill>
                  <a:srgbClr val="0070C0"/>
                </a:solidFill>
              </a:rPr>
              <a:t>(‘mean’)</a:t>
            </a: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Df.drop</a:t>
            </a:r>
            <a:r>
              <a:rPr lang="en-US" sz="2400" b="1" dirty="0">
                <a:solidFill>
                  <a:srgbClr val="0070C0"/>
                </a:solidFill>
              </a:rPr>
              <a:t>(‘pop’, axis =1)</a:t>
            </a: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Df.drop</a:t>
            </a:r>
            <a:r>
              <a:rPr lang="en-US" sz="2400" b="1" dirty="0">
                <a:solidFill>
                  <a:srgbClr val="0070C0"/>
                </a:solidFill>
              </a:rPr>
              <a:t>(‘mean’, </a:t>
            </a:r>
            <a:r>
              <a:rPr lang="en-US" sz="2400" b="1" dirty="0" err="1">
                <a:solidFill>
                  <a:srgbClr val="0070C0"/>
                </a:solidFill>
              </a:rPr>
              <a:t>inplace</a:t>
            </a:r>
            <a:r>
              <a:rPr lang="en-US" sz="2400" b="1" dirty="0">
                <a:solidFill>
                  <a:srgbClr val="0070C0"/>
                </a:solidFill>
              </a:rPr>
              <a:t> = True)</a:t>
            </a: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Df.drop</a:t>
            </a:r>
            <a:r>
              <a:rPr lang="en-US" sz="2400" b="1" dirty="0">
                <a:solidFill>
                  <a:srgbClr val="0070C0"/>
                </a:solidFill>
              </a:rPr>
              <a:t>(‘pop’, axis =1, </a:t>
            </a:r>
            <a:r>
              <a:rPr lang="en-US" sz="2400" b="1" dirty="0" err="1">
                <a:solidFill>
                  <a:srgbClr val="0070C0"/>
                </a:solidFill>
              </a:rPr>
              <a:t>inplace</a:t>
            </a:r>
            <a:r>
              <a:rPr lang="en-US" sz="2400" b="1" dirty="0">
                <a:solidFill>
                  <a:srgbClr val="0070C0"/>
                </a:solidFill>
              </a:rPr>
              <a:t> = True)</a:t>
            </a: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Np.mean</a:t>
            </a:r>
            <a:r>
              <a:rPr lang="en-US" sz="2400" b="1" dirty="0">
                <a:solidFill>
                  <a:srgbClr val="0070C0"/>
                </a:solidFill>
              </a:rPr>
              <a:t>(</a:t>
            </a: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r>
              <a:rPr lang="en-US" sz="2400" b="1" dirty="0">
                <a:solidFill>
                  <a:srgbClr val="0070C0"/>
                </a:solidFill>
              </a:rPr>
              <a:t>[‘mass’])</a:t>
            </a: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Df.loc</a:t>
            </a:r>
            <a:r>
              <a:rPr lang="en-US" sz="2400" b="1" dirty="0">
                <a:solidFill>
                  <a:srgbClr val="0070C0"/>
                </a:solidFill>
              </a:rPr>
              <a:t>[‘mean’] = [</a:t>
            </a:r>
            <a:r>
              <a:rPr lang="en-US" sz="2400" b="1" dirty="0" err="1">
                <a:solidFill>
                  <a:srgbClr val="0070C0"/>
                </a:solidFill>
              </a:rPr>
              <a:t>np.mean</a:t>
            </a:r>
            <a:r>
              <a:rPr lang="en-US" sz="2400" b="1" dirty="0">
                <a:solidFill>
                  <a:srgbClr val="0070C0"/>
                </a:solidFill>
              </a:rPr>
              <a:t>(</a:t>
            </a: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r>
              <a:rPr lang="en-US" sz="2400" b="1" dirty="0">
                <a:solidFill>
                  <a:srgbClr val="0070C0"/>
                </a:solidFill>
              </a:rPr>
              <a:t>[‘mass]), </a:t>
            </a:r>
            <a:r>
              <a:rPr lang="en-US" sz="2400" b="1" dirty="0" err="1">
                <a:solidFill>
                  <a:srgbClr val="0070C0"/>
                </a:solidFill>
              </a:rPr>
              <a:t>np.mean</a:t>
            </a:r>
            <a:r>
              <a:rPr lang="en-US" sz="2400" b="1" dirty="0">
                <a:solidFill>
                  <a:srgbClr val="0070C0"/>
                </a:solidFill>
              </a:rPr>
              <a:t>(</a:t>
            </a: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r>
              <a:rPr lang="en-US" sz="2400" b="1" dirty="0">
                <a:solidFill>
                  <a:srgbClr val="0070C0"/>
                </a:solidFill>
              </a:rPr>
              <a:t>[‘diameter])]</a:t>
            </a: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endParaRPr lang="en-US" sz="2400" b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64483C-E844-4D29-BFB4-0FC9EDD7545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24077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429000" y="0"/>
            <a:ext cx="8762999" cy="9042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826113"/>
            <a:ext cx="9993394" cy="610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 Creating a function to create a new row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Def </a:t>
            </a:r>
            <a:r>
              <a:rPr lang="en-US" sz="2300" b="1" dirty="0" err="1">
                <a:solidFill>
                  <a:srgbClr val="0070C0"/>
                </a:solidFill>
              </a:rPr>
              <a:t>create_mean_row</a:t>
            </a:r>
            <a:r>
              <a:rPr lang="en-US" sz="2300" b="1" dirty="0">
                <a:solidFill>
                  <a:srgbClr val="0070C0"/>
                </a:solidFill>
              </a:rPr>
              <a:t>(</a:t>
            </a:r>
            <a:r>
              <a:rPr lang="en-US" sz="2300" b="1" dirty="0" err="1">
                <a:solidFill>
                  <a:srgbClr val="0070C0"/>
                </a:solidFill>
              </a:rPr>
              <a:t>df</a:t>
            </a:r>
            <a:r>
              <a:rPr lang="en-US" sz="2300" b="1" dirty="0">
                <a:solidFill>
                  <a:srgbClr val="0070C0"/>
                </a:solidFill>
              </a:rPr>
              <a:t>):</a:t>
            </a: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	</a:t>
            </a:r>
            <a:r>
              <a:rPr lang="en-US" sz="2300" b="1" dirty="0" err="1">
                <a:solidFill>
                  <a:srgbClr val="0070C0"/>
                </a:solidFill>
              </a:rPr>
              <a:t>df.loc</a:t>
            </a:r>
            <a:r>
              <a:rPr lang="en-US" sz="2300" b="1" dirty="0">
                <a:solidFill>
                  <a:srgbClr val="0070C0"/>
                </a:solidFill>
              </a:rPr>
              <a:t>[‘</a:t>
            </a:r>
            <a:r>
              <a:rPr lang="en-US" sz="2300" b="1" dirty="0" err="1">
                <a:solidFill>
                  <a:srgbClr val="0070C0"/>
                </a:solidFill>
              </a:rPr>
              <a:t>col_mean</a:t>
            </a:r>
            <a:r>
              <a:rPr lang="en-US" sz="2300" b="1" dirty="0">
                <a:solidFill>
                  <a:srgbClr val="0070C0"/>
                </a:solidFill>
              </a:rPr>
              <a:t>’] = [</a:t>
            </a:r>
            <a:r>
              <a:rPr lang="en-US" sz="2300" b="1" dirty="0" err="1">
                <a:solidFill>
                  <a:srgbClr val="0070C0"/>
                </a:solidFill>
              </a:rPr>
              <a:t>np.mean</a:t>
            </a:r>
            <a:r>
              <a:rPr lang="en-US" sz="2300" b="1" dirty="0">
                <a:solidFill>
                  <a:srgbClr val="0070C0"/>
                </a:solidFill>
              </a:rPr>
              <a:t>(</a:t>
            </a:r>
            <a:r>
              <a:rPr lang="en-US" sz="2300" b="1" dirty="0" err="1">
                <a:solidFill>
                  <a:srgbClr val="0070C0"/>
                </a:solidFill>
              </a:rPr>
              <a:t>df</a:t>
            </a:r>
            <a:r>
              <a:rPr lang="en-US" sz="2300" b="1" dirty="0">
                <a:solidFill>
                  <a:srgbClr val="0070C0"/>
                </a:solidFill>
              </a:rPr>
              <a:t>[col1]) for col in </a:t>
            </a:r>
            <a:r>
              <a:rPr lang="en-US" sz="2300" b="1" dirty="0" err="1">
                <a:solidFill>
                  <a:srgbClr val="0070C0"/>
                </a:solidFill>
              </a:rPr>
              <a:t>df.columns</a:t>
            </a:r>
            <a:r>
              <a:rPr lang="en-US" sz="2300" b="1" dirty="0">
                <a:solidFill>
                  <a:srgbClr val="0070C0"/>
                </a:solidFill>
              </a:rPr>
              <a:t>]</a:t>
            </a: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	return </a:t>
            </a:r>
            <a:r>
              <a:rPr lang="en-US" sz="2300" b="1" dirty="0" err="1">
                <a:solidFill>
                  <a:srgbClr val="0070C0"/>
                </a:solidFill>
              </a:rPr>
              <a:t>df</a:t>
            </a: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Create_mean_row</a:t>
            </a:r>
            <a:r>
              <a:rPr lang="en-US" sz="2300" b="1" dirty="0">
                <a:solidFill>
                  <a:srgbClr val="0070C0"/>
                </a:solidFill>
              </a:rPr>
              <a:t>(</a:t>
            </a:r>
            <a:r>
              <a:rPr lang="en-US" sz="2300" b="1" dirty="0" err="1">
                <a:solidFill>
                  <a:srgbClr val="0070C0"/>
                </a:solidFill>
              </a:rPr>
              <a:t>df</a:t>
            </a:r>
            <a:r>
              <a:rPr lang="en-US" sz="2300" b="1" dirty="0">
                <a:solidFill>
                  <a:srgbClr val="0070C0"/>
                </a:solidFill>
              </a:rPr>
              <a:t>)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Def </a:t>
            </a:r>
            <a:r>
              <a:rPr lang="en-US" sz="2300" b="1" dirty="0" err="1">
                <a:solidFill>
                  <a:srgbClr val="0070C0"/>
                </a:solidFill>
              </a:rPr>
              <a:t>create_mean_row</a:t>
            </a:r>
            <a:r>
              <a:rPr lang="en-US" sz="2300" b="1" dirty="0">
                <a:solidFill>
                  <a:srgbClr val="0070C0"/>
                </a:solidFill>
              </a:rPr>
              <a:t>(</a:t>
            </a:r>
            <a:r>
              <a:rPr lang="en-US" sz="2300" b="1" dirty="0" err="1">
                <a:solidFill>
                  <a:srgbClr val="0070C0"/>
                </a:solidFill>
              </a:rPr>
              <a:t>df</a:t>
            </a:r>
            <a:r>
              <a:rPr lang="en-US" sz="2300" b="1" dirty="0">
                <a:solidFill>
                  <a:srgbClr val="0070C0"/>
                </a:solidFill>
              </a:rPr>
              <a:t>):</a:t>
            </a: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	</a:t>
            </a:r>
            <a:r>
              <a:rPr lang="en-US" sz="2300" b="1" dirty="0" err="1">
                <a:solidFill>
                  <a:srgbClr val="0070C0"/>
                </a:solidFill>
              </a:rPr>
              <a:t>df.loc</a:t>
            </a:r>
            <a:r>
              <a:rPr lang="en-US" sz="2300" b="1" dirty="0">
                <a:solidFill>
                  <a:srgbClr val="0070C0"/>
                </a:solidFill>
              </a:rPr>
              <a:t>[‘col_mean1’] = </a:t>
            </a:r>
            <a:r>
              <a:rPr lang="en-US" sz="2300" b="1" dirty="0" err="1">
                <a:solidFill>
                  <a:srgbClr val="0070C0"/>
                </a:solidFill>
              </a:rPr>
              <a:t>df.mean</a:t>
            </a:r>
            <a:r>
              <a:rPr lang="en-US" sz="2300" b="1" dirty="0">
                <a:solidFill>
                  <a:srgbClr val="0070C0"/>
                </a:solidFill>
              </a:rPr>
              <a:t>()</a:t>
            </a: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	return </a:t>
            </a:r>
            <a:r>
              <a:rPr lang="en-US" sz="2300" b="1" dirty="0" err="1">
                <a:solidFill>
                  <a:srgbClr val="0070C0"/>
                </a:solidFill>
              </a:rPr>
              <a:t>df</a:t>
            </a: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Create_mean_row</a:t>
            </a:r>
            <a:r>
              <a:rPr lang="en-US" sz="2300" b="1" dirty="0">
                <a:solidFill>
                  <a:srgbClr val="0070C0"/>
                </a:solidFill>
              </a:rPr>
              <a:t>(</a:t>
            </a:r>
            <a:r>
              <a:rPr lang="en-US" sz="2300" b="1" dirty="0" err="1">
                <a:solidFill>
                  <a:srgbClr val="0070C0"/>
                </a:solidFill>
              </a:rPr>
              <a:t>df</a:t>
            </a:r>
            <a:r>
              <a:rPr lang="en-US" sz="2300" b="1" dirty="0">
                <a:solidFill>
                  <a:srgbClr val="0070C0"/>
                </a:solidFill>
              </a:rPr>
              <a:t>)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Df</a:t>
            </a:r>
            <a:r>
              <a:rPr lang="en-US" sz="2300" b="1" dirty="0">
                <a:solidFill>
                  <a:srgbClr val="0070C0"/>
                </a:solidFill>
              </a:rPr>
              <a:t> = </a:t>
            </a:r>
            <a:r>
              <a:rPr lang="en-US" sz="2300" b="1" dirty="0" err="1">
                <a:solidFill>
                  <a:srgbClr val="0070C0"/>
                </a:solidFill>
              </a:rPr>
              <a:t>create_df</a:t>
            </a:r>
            <a:r>
              <a:rPr lang="en-US" sz="2300" b="1" dirty="0">
                <a:solidFill>
                  <a:srgbClr val="0070C0"/>
                </a:solidFill>
              </a:rPr>
              <a:t>(5, 3)</a:t>
            </a: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Df</a:t>
            </a: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Df.mean</a:t>
            </a:r>
            <a:r>
              <a:rPr lang="en-US" sz="2300" b="1" dirty="0">
                <a:solidFill>
                  <a:srgbClr val="0070C0"/>
                </a:solidFill>
              </a:rPr>
              <a:t>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43F23E-9C6E-4497-949A-20D6B25DDE7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090602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438525" y="0"/>
            <a:ext cx="8753474" cy="970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941" y="1121677"/>
            <a:ext cx="999339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 Creating a function to create a new row</a:t>
            </a: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what if I want to compute mean for the row: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Df.mean</a:t>
            </a:r>
            <a:r>
              <a:rPr lang="en-US" sz="2300" b="1" dirty="0">
                <a:solidFill>
                  <a:srgbClr val="0070C0"/>
                </a:solidFill>
              </a:rPr>
              <a:t>(axis =1) 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Df</a:t>
            </a:r>
            <a:r>
              <a:rPr lang="en-US" sz="2300" b="1" dirty="0">
                <a:solidFill>
                  <a:srgbClr val="0070C0"/>
                </a:solidFill>
              </a:rPr>
              <a:t>[‘</a:t>
            </a:r>
            <a:r>
              <a:rPr lang="en-US" sz="2300" b="1" dirty="0" err="1">
                <a:solidFill>
                  <a:srgbClr val="0070C0"/>
                </a:solidFill>
              </a:rPr>
              <a:t>row_mean</a:t>
            </a:r>
            <a:r>
              <a:rPr lang="en-US" sz="2300" b="1" dirty="0">
                <a:solidFill>
                  <a:srgbClr val="0070C0"/>
                </a:solidFill>
              </a:rPr>
              <a:t>’] = </a:t>
            </a:r>
            <a:r>
              <a:rPr lang="en-US" sz="2300" b="1" dirty="0" err="1">
                <a:solidFill>
                  <a:srgbClr val="0070C0"/>
                </a:solidFill>
              </a:rPr>
              <a:t>df.mean</a:t>
            </a:r>
            <a:r>
              <a:rPr lang="en-US" sz="2300" b="1" dirty="0">
                <a:solidFill>
                  <a:srgbClr val="0070C0"/>
                </a:solidFill>
              </a:rPr>
              <a:t>(axis =1)</a:t>
            </a: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Df</a:t>
            </a: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Df.loc</a:t>
            </a:r>
            <a:r>
              <a:rPr lang="en-US" sz="2300" b="1" dirty="0">
                <a:solidFill>
                  <a:srgbClr val="0070C0"/>
                </a:solidFill>
              </a:rPr>
              <a:t>[‘</a:t>
            </a:r>
            <a:r>
              <a:rPr lang="en-US" sz="2300" b="1" dirty="0" err="1">
                <a:solidFill>
                  <a:srgbClr val="0070C0"/>
                </a:solidFill>
              </a:rPr>
              <a:t>col_mean</a:t>
            </a:r>
            <a:r>
              <a:rPr lang="en-US" sz="2300" b="1" dirty="0">
                <a:solidFill>
                  <a:srgbClr val="0070C0"/>
                </a:solidFill>
              </a:rPr>
              <a:t>’] = </a:t>
            </a:r>
            <a:r>
              <a:rPr lang="en-US" sz="2300" b="1" dirty="0" err="1">
                <a:solidFill>
                  <a:srgbClr val="0070C0"/>
                </a:solidFill>
              </a:rPr>
              <a:t>df.mean</a:t>
            </a:r>
            <a:r>
              <a:rPr lang="en-US" sz="2300" b="1" dirty="0">
                <a:solidFill>
                  <a:srgbClr val="0070C0"/>
                </a:solidFill>
              </a:rPr>
              <a:t>()</a:t>
            </a: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Df</a:t>
            </a: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Df.median</a:t>
            </a:r>
            <a:r>
              <a:rPr lang="en-US" sz="2300" b="1" dirty="0">
                <a:solidFill>
                  <a:srgbClr val="0070C0"/>
                </a:solidFill>
              </a:rPr>
              <a:t>()</a:t>
            </a: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Df.min</a:t>
            </a:r>
            <a:r>
              <a:rPr lang="en-US" sz="2300" b="1" dirty="0">
                <a:solidFill>
                  <a:srgbClr val="0070C0"/>
                </a:solidFill>
              </a:rPr>
              <a:t>()</a:t>
            </a: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Df.max</a:t>
            </a:r>
            <a:r>
              <a:rPr lang="en-US" sz="2300" b="1" dirty="0">
                <a:solidFill>
                  <a:srgbClr val="0070C0"/>
                </a:solidFill>
              </a:rPr>
              <a:t>()</a:t>
            </a: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Df.quantile</a:t>
            </a:r>
            <a:r>
              <a:rPr lang="en-US" sz="2300" b="1" dirty="0">
                <a:solidFill>
                  <a:srgbClr val="0070C0"/>
                </a:solidFill>
              </a:rPr>
              <a:t>(0.25)</a:t>
            </a: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Df.drop</a:t>
            </a:r>
            <a:r>
              <a:rPr lang="en-US" sz="2300" b="1" dirty="0">
                <a:solidFill>
                  <a:srgbClr val="0070C0"/>
                </a:solidFill>
              </a:rPr>
              <a:t>(‘</a:t>
            </a:r>
            <a:r>
              <a:rPr lang="en-US" sz="2300" b="1" dirty="0" err="1">
                <a:solidFill>
                  <a:srgbClr val="0070C0"/>
                </a:solidFill>
              </a:rPr>
              <a:t>row_mean</a:t>
            </a:r>
            <a:r>
              <a:rPr lang="en-US" sz="2300" b="1" dirty="0">
                <a:solidFill>
                  <a:srgbClr val="0070C0"/>
                </a:solidFill>
              </a:rPr>
              <a:t>’, axis =1)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738816-6CBA-4E79-B369-37C111642B7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68076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7715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941" y="1121677"/>
            <a:ext cx="9993394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Other ways of computing the details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Df.describe</a:t>
            </a:r>
            <a:r>
              <a:rPr lang="en-US" sz="2300" b="1" dirty="0">
                <a:solidFill>
                  <a:srgbClr val="0070C0"/>
                </a:solidFill>
              </a:rPr>
              <a:t>()</a:t>
            </a:r>
          </a:p>
          <a:p>
            <a:r>
              <a:rPr lang="en-IN" sz="2400" dirty="0">
                <a:solidFill>
                  <a:srgbClr val="0070C0"/>
                </a:solidFill>
              </a:rPr>
              <a:t>mass1 = </a:t>
            </a:r>
            <a:r>
              <a:rPr lang="en-IN" sz="2400" dirty="0" err="1">
                <a:solidFill>
                  <a:srgbClr val="0070C0"/>
                </a:solidFill>
              </a:rPr>
              <a:t>pd.Series</a:t>
            </a:r>
            <a:r>
              <a:rPr lang="en-IN" sz="2400" dirty="0">
                <a:solidFill>
                  <a:srgbClr val="0070C0"/>
                </a:solidFill>
              </a:rPr>
              <a:t>((0.33, 4.07, 5.97, 0.642, 1090, 568, 86.0, 102, 0.0146, 0.000292), index = ['mercury', '</a:t>
            </a:r>
            <a:r>
              <a:rPr lang="en-IN" sz="2400" dirty="0" err="1">
                <a:solidFill>
                  <a:srgbClr val="0070C0"/>
                </a:solidFill>
              </a:rPr>
              <a:t>venus</a:t>
            </a:r>
            <a:r>
              <a:rPr lang="en-IN" sz="2400" dirty="0">
                <a:solidFill>
                  <a:srgbClr val="0070C0"/>
                </a:solidFill>
              </a:rPr>
              <a:t>', 'earth', 'mars', '</a:t>
            </a:r>
            <a:r>
              <a:rPr lang="en-IN" sz="2400" dirty="0" err="1">
                <a:solidFill>
                  <a:srgbClr val="0070C0"/>
                </a:solidFill>
              </a:rPr>
              <a:t>jupiter</a:t>
            </a:r>
            <a:r>
              <a:rPr lang="en-IN" sz="2400" dirty="0">
                <a:solidFill>
                  <a:srgbClr val="0070C0"/>
                </a:solidFill>
              </a:rPr>
              <a:t>', '</a:t>
            </a:r>
            <a:r>
              <a:rPr lang="en-IN" sz="2400" dirty="0" err="1">
                <a:solidFill>
                  <a:srgbClr val="0070C0"/>
                </a:solidFill>
              </a:rPr>
              <a:t>saturn</a:t>
            </a:r>
            <a:r>
              <a:rPr lang="en-IN" sz="2400" dirty="0">
                <a:solidFill>
                  <a:srgbClr val="0070C0"/>
                </a:solidFill>
              </a:rPr>
              <a:t>', '</a:t>
            </a:r>
            <a:r>
              <a:rPr lang="en-IN" sz="2400" dirty="0" err="1">
                <a:solidFill>
                  <a:srgbClr val="0070C0"/>
                </a:solidFill>
              </a:rPr>
              <a:t>uranus</a:t>
            </a:r>
            <a:r>
              <a:rPr lang="en-IN" sz="2400" dirty="0">
                <a:solidFill>
                  <a:srgbClr val="0070C0"/>
                </a:solidFill>
              </a:rPr>
              <a:t>', '</a:t>
            </a:r>
            <a:r>
              <a:rPr lang="en-IN" sz="2400" dirty="0" err="1">
                <a:solidFill>
                  <a:srgbClr val="0070C0"/>
                </a:solidFill>
              </a:rPr>
              <a:t>neptune</a:t>
            </a:r>
            <a:r>
              <a:rPr lang="en-IN" sz="2400" dirty="0">
                <a:solidFill>
                  <a:srgbClr val="0070C0"/>
                </a:solidFill>
              </a:rPr>
              <a:t>', '</a:t>
            </a:r>
            <a:r>
              <a:rPr lang="en-IN" sz="2400" dirty="0" err="1">
                <a:solidFill>
                  <a:srgbClr val="0070C0"/>
                </a:solidFill>
              </a:rPr>
              <a:t>pluto</a:t>
            </a:r>
            <a:r>
              <a:rPr lang="en-IN" sz="2400" dirty="0">
                <a:solidFill>
                  <a:srgbClr val="0070C0"/>
                </a:solidFill>
              </a:rPr>
              <a:t>', '</a:t>
            </a:r>
            <a:r>
              <a:rPr lang="en-IN" sz="2400" dirty="0" err="1">
                <a:solidFill>
                  <a:srgbClr val="0070C0"/>
                </a:solidFill>
              </a:rPr>
              <a:t>eris</a:t>
            </a:r>
            <a:r>
              <a:rPr lang="en-IN" sz="2400" dirty="0">
                <a:solidFill>
                  <a:srgbClr val="0070C0"/>
                </a:solidFill>
              </a:rPr>
              <a:t>'])</a:t>
            </a:r>
          </a:p>
          <a:p>
            <a:r>
              <a:rPr lang="en-IN" sz="2400" dirty="0">
                <a:solidFill>
                  <a:srgbClr val="0070C0"/>
                </a:solidFill>
              </a:rPr>
              <a:t>#print(mass1)</a:t>
            </a:r>
          </a:p>
          <a:p>
            <a:r>
              <a:rPr lang="en-IN" sz="2400" dirty="0">
                <a:solidFill>
                  <a:srgbClr val="0070C0"/>
                </a:solidFill>
              </a:rPr>
              <a:t>dia1 = </a:t>
            </a:r>
            <a:r>
              <a:rPr lang="en-IN" sz="2400" dirty="0" err="1">
                <a:solidFill>
                  <a:srgbClr val="0070C0"/>
                </a:solidFill>
              </a:rPr>
              <a:t>pd.Series</a:t>
            </a:r>
            <a:r>
              <a:rPr lang="en-IN" sz="2400" dirty="0">
                <a:solidFill>
                  <a:srgbClr val="0070C0"/>
                </a:solidFill>
              </a:rPr>
              <a:t>((4079, 12104, 12756, 3475, 6792, 142904, 120536, 51110, 49528, 2370, 2326), index = ['mercury', '</a:t>
            </a:r>
            <a:r>
              <a:rPr lang="en-IN" sz="2400" dirty="0" err="1">
                <a:solidFill>
                  <a:srgbClr val="0070C0"/>
                </a:solidFill>
              </a:rPr>
              <a:t>venus</a:t>
            </a:r>
            <a:r>
              <a:rPr lang="en-IN" sz="2400" dirty="0">
                <a:solidFill>
                  <a:srgbClr val="0070C0"/>
                </a:solidFill>
              </a:rPr>
              <a:t>', 'earth', 'moon', 'mars', '</a:t>
            </a:r>
            <a:r>
              <a:rPr lang="en-IN" sz="2400" dirty="0" err="1">
                <a:solidFill>
                  <a:srgbClr val="0070C0"/>
                </a:solidFill>
              </a:rPr>
              <a:t>jupiter</a:t>
            </a:r>
            <a:r>
              <a:rPr lang="en-IN" sz="2400" dirty="0">
                <a:solidFill>
                  <a:srgbClr val="0070C0"/>
                </a:solidFill>
              </a:rPr>
              <a:t>', '</a:t>
            </a:r>
            <a:r>
              <a:rPr lang="en-IN" sz="2400" dirty="0" err="1">
                <a:solidFill>
                  <a:srgbClr val="0070C0"/>
                </a:solidFill>
              </a:rPr>
              <a:t>saturn</a:t>
            </a:r>
            <a:r>
              <a:rPr lang="en-IN" sz="2400" dirty="0">
                <a:solidFill>
                  <a:srgbClr val="0070C0"/>
                </a:solidFill>
              </a:rPr>
              <a:t>', '</a:t>
            </a:r>
            <a:r>
              <a:rPr lang="en-IN" sz="2400" dirty="0" err="1">
                <a:solidFill>
                  <a:srgbClr val="0070C0"/>
                </a:solidFill>
              </a:rPr>
              <a:t>uranus</a:t>
            </a:r>
            <a:r>
              <a:rPr lang="en-IN" sz="2400" dirty="0">
                <a:solidFill>
                  <a:srgbClr val="0070C0"/>
                </a:solidFill>
              </a:rPr>
              <a:t>', '</a:t>
            </a:r>
            <a:r>
              <a:rPr lang="en-IN" sz="2400" dirty="0" err="1">
                <a:solidFill>
                  <a:srgbClr val="0070C0"/>
                </a:solidFill>
              </a:rPr>
              <a:t>neptune</a:t>
            </a:r>
            <a:r>
              <a:rPr lang="en-IN" sz="2400" dirty="0">
                <a:solidFill>
                  <a:srgbClr val="0070C0"/>
                </a:solidFill>
              </a:rPr>
              <a:t>', '</a:t>
            </a:r>
            <a:r>
              <a:rPr lang="en-IN" sz="2400" dirty="0" err="1">
                <a:solidFill>
                  <a:srgbClr val="0070C0"/>
                </a:solidFill>
              </a:rPr>
              <a:t>pluto</a:t>
            </a:r>
            <a:r>
              <a:rPr lang="en-IN" sz="2400" dirty="0">
                <a:solidFill>
                  <a:srgbClr val="0070C0"/>
                </a:solidFill>
              </a:rPr>
              <a:t>', '</a:t>
            </a:r>
            <a:r>
              <a:rPr lang="en-IN" sz="2400" dirty="0" err="1">
                <a:solidFill>
                  <a:srgbClr val="0070C0"/>
                </a:solidFill>
              </a:rPr>
              <a:t>eris</a:t>
            </a:r>
            <a:r>
              <a:rPr lang="en-IN" sz="2400" dirty="0">
                <a:solidFill>
                  <a:srgbClr val="0070C0"/>
                </a:solidFill>
              </a:rPr>
              <a:t>'])</a:t>
            </a:r>
          </a:p>
          <a:p>
            <a:r>
              <a:rPr lang="en-IN" sz="2400" dirty="0">
                <a:solidFill>
                  <a:srgbClr val="0070C0"/>
                </a:solidFill>
              </a:rPr>
              <a:t>#print(dia1)</a:t>
            </a:r>
          </a:p>
          <a:p>
            <a:pPr>
              <a:defRPr/>
            </a:pPr>
            <a:endParaRPr lang="en-US" sz="32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Planets = </a:t>
            </a:r>
            <a:r>
              <a:rPr lang="en-US" sz="2400" b="1" dirty="0" err="1">
                <a:solidFill>
                  <a:srgbClr val="0070C0"/>
                </a:solidFill>
              </a:rPr>
              <a:t>pd.DataFrame</a:t>
            </a:r>
            <a:r>
              <a:rPr lang="en-US" sz="2400" b="1" dirty="0">
                <a:solidFill>
                  <a:srgbClr val="0070C0"/>
                </a:solidFill>
              </a:rPr>
              <a:t>({‘mass’ : mass1, ‘diameter’, dia1})</a:t>
            </a: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Planets.describe</a:t>
            </a:r>
            <a:r>
              <a:rPr lang="en-US" sz="2400" b="1" dirty="0">
                <a:solidFill>
                  <a:srgbClr val="0070C0"/>
                </a:solidFill>
              </a:rPr>
              <a:t>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CBAF4-C50A-4836-B3A7-A1B5569317E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40070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419475" y="0"/>
            <a:ext cx="8772524" cy="9042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941" y="1121677"/>
            <a:ext cx="999339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Seaborn</a:t>
            </a:r>
            <a:r>
              <a:rPr lang="en-US" sz="2300" b="1" dirty="0">
                <a:solidFill>
                  <a:srgbClr val="0070C0"/>
                </a:solidFill>
              </a:rPr>
              <a:t> – Planets data set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Import </a:t>
            </a:r>
            <a:r>
              <a:rPr lang="en-US" sz="2400" b="1" dirty="0" err="1">
                <a:solidFill>
                  <a:srgbClr val="0070C0"/>
                </a:solidFill>
              </a:rPr>
              <a:t>seaborn</a:t>
            </a:r>
            <a:r>
              <a:rPr lang="en-US" sz="2400" b="1" dirty="0">
                <a:solidFill>
                  <a:srgbClr val="0070C0"/>
                </a:solidFill>
              </a:rPr>
              <a:t> as </a:t>
            </a:r>
            <a:r>
              <a:rPr lang="en-US" sz="2400" b="1" dirty="0" err="1">
                <a:solidFill>
                  <a:srgbClr val="0070C0"/>
                </a:solidFill>
              </a:rPr>
              <a:t>sns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</a:t>
            </a:r>
            <a:r>
              <a:rPr lang="en-US" sz="2400" b="1" dirty="0">
                <a:solidFill>
                  <a:srgbClr val="0070C0"/>
                </a:solidFill>
              </a:rPr>
              <a:t> = </a:t>
            </a:r>
            <a:r>
              <a:rPr lang="en-US" sz="2400" b="1" dirty="0" err="1">
                <a:solidFill>
                  <a:srgbClr val="0070C0"/>
                </a:solidFill>
              </a:rPr>
              <a:t>sns.load_dataset</a:t>
            </a:r>
            <a:r>
              <a:rPr lang="en-US" sz="2400" b="1" dirty="0">
                <a:solidFill>
                  <a:srgbClr val="0070C0"/>
                </a:solidFill>
              </a:rPr>
              <a:t>(‘planets’)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</a:rPr>
              <a:t>df.info()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Df.head</a:t>
            </a:r>
            <a:r>
              <a:rPr lang="en-US" sz="2400" b="1" dirty="0">
                <a:solidFill>
                  <a:srgbClr val="0070C0"/>
                </a:solidFill>
              </a:rPr>
              <a:t>()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Df.tail</a:t>
            </a:r>
            <a:r>
              <a:rPr lang="en-US" sz="2400" b="1" dirty="0">
                <a:solidFill>
                  <a:srgbClr val="0070C0"/>
                </a:solidFill>
              </a:rPr>
              <a:t>()</a:t>
            </a: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Df.describe</a:t>
            </a:r>
            <a:r>
              <a:rPr lang="en-US" sz="2400" b="1" dirty="0">
                <a:solidFill>
                  <a:srgbClr val="0070C0"/>
                </a:solidFill>
              </a:rPr>
              <a:t>()</a:t>
            </a:r>
            <a:endParaRPr lang="en-US" sz="28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400" b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1F0DF2-330F-450E-AC5E-C8169522EC3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303707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524250" y="0"/>
            <a:ext cx="8667749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2010" y="854047"/>
            <a:ext cx="999339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Task 1: Go through each row of the </a:t>
            </a:r>
            <a:r>
              <a:rPr lang="en-US" sz="2300" b="1" dirty="0" err="1">
                <a:solidFill>
                  <a:srgbClr val="0070C0"/>
                </a:solidFill>
              </a:rPr>
              <a:t>df</a:t>
            </a:r>
            <a:r>
              <a:rPr lang="en-US" sz="2300" b="1" dirty="0">
                <a:solidFill>
                  <a:srgbClr val="0070C0"/>
                </a:solidFill>
              </a:rPr>
              <a:t> and delete (drop) if any of the cols is null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Regular way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For r in </a:t>
            </a:r>
            <a:r>
              <a:rPr lang="en-US" sz="2300" b="1" dirty="0" err="1">
                <a:solidFill>
                  <a:srgbClr val="0070C0"/>
                </a:solidFill>
              </a:rPr>
              <a:t>df.index</a:t>
            </a:r>
            <a:r>
              <a:rPr lang="en-US" sz="2300" b="1" dirty="0">
                <a:solidFill>
                  <a:srgbClr val="0070C0"/>
                </a:solidFill>
              </a:rPr>
              <a:t>:</a:t>
            </a: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	for c in </a:t>
            </a:r>
            <a:r>
              <a:rPr lang="en-US" sz="2300" b="1" dirty="0" err="1">
                <a:solidFill>
                  <a:srgbClr val="0070C0"/>
                </a:solidFill>
              </a:rPr>
              <a:t>df.columns</a:t>
            </a:r>
            <a:r>
              <a:rPr lang="en-US" sz="2300" b="1" dirty="0">
                <a:solidFill>
                  <a:srgbClr val="0070C0"/>
                </a:solidFill>
              </a:rPr>
              <a:t>:</a:t>
            </a: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		if </a:t>
            </a:r>
            <a:r>
              <a:rPr lang="en-US" sz="2300" b="1" dirty="0" err="1">
                <a:solidFill>
                  <a:srgbClr val="0070C0"/>
                </a:solidFill>
              </a:rPr>
              <a:t>pd.isnull</a:t>
            </a:r>
            <a:r>
              <a:rPr lang="en-US" sz="2300" b="1" dirty="0">
                <a:solidFill>
                  <a:srgbClr val="0070C0"/>
                </a:solidFill>
              </a:rPr>
              <a:t>(</a:t>
            </a:r>
            <a:r>
              <a:rPr lang="en-US" sz="2300" b="1" dirty="0" err="1">
                <a:solidFill>
                  <a:srgbClr val="0070C0"/>
                </a:solidFill>
              </a:rPr>
              <a:t>df.loc</a:t>
            </a:r>
            <a:r>
              <a:rPr lang="en-US" sz="2300" b="1" dirty="0">
                <a:solidFill>
                  <a:srgbClr val="0070C0"/>
                </a:solidFill>
              </a:rPr>
              <a:t>[r, c]):</a:t>
            </a: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		</a:t>
            </a:r>
            <a:r>
              <a:rPr lang="en-US" sz="2300" b="1" dirty="0" err="1">
                <a:solidFill>
                  <a:srgbClr val="0070C0"/>
                </a:solidFill>
              </a:rPr>
              <a:t>df.drop</a:t>
            </a:r>
            <a:r>
              <a:rPr lang="en-US" sz="2300" b="1" dirty="0">
                <a:solidFill>
                  <a:srgbClr val="0070C0"/>
                </a:solidFill>
              </a:rPr>
              <a:t>(r, </a:t>
            </a:r>
            <a:r>
              <a:rPr lang="en-US" sz="2300" b="1" dirty="0" err="1">
                <a:solidFill>
                  <a:srgbClr val="0070C0"/>
                </a:solidFill>
              </a:rPr>
              <a:t>inplace</a:t>
            </a:r>
            <a:r>
              <a:rPr lang="en-US" sz="2300" b="1" dirty="0">
                <a:solidFill>
                  <a:srgbClr val="0070C0"/>
                </a:solidFill>
              </a:rPr>
              <a:t> = True)</a:t>
            </a: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		break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Df.describe</a:t>
            </a:r>
            <a:r>
              <a:rPr lang="en-US" sz="2300" b="1" dirty="0">
                <a:solidFill>
                  <a:srgbClr val="0070C0"/>
                </a:solidFill>
              </a:rPr>
              <a:t>()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For I, r in </a:t>
            </a:r>
            <a:r>
              <a:rPr lang="en-US" sz="2300" b="1" dirty="0" err="1">
                <a:solidFill>
                  <a:srgbClr val="0070C0"/>
                </a:solidFill>
              </a:rPr>
              <a:t>df.iterrows</a:t>
            </a:r>
            <a:r>
              <a:rPr lang="en-US" sz="2300" b="1" dirty="0">
                <a:solidFill>
                  <a:srgbClr val="0070C0"/>
                </a:solidFill>
              </a:rPr>
              <a:t>():</a:t>
            </a: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	print(</a:t>
            </a:r>
            <a:r>
              <a:rPr lang="en-US" sz="2300" b="1" dirty="0" err="1">
                <a:solidFill>
                  <a:srgbClr val="0070C0"/>
                </a:solidFill>
              </a:rPr>
              <a:t>i</a:t>
            </a:r>
            <a:r>
              <a:rPr lang="en-US" sz="2300" b="1" dirty="0">
                <a:solidFill>
                  <a:srgbClr val="0070C0"/>
                </a:solidFill>
              </a:rPr>
              <a:t>)</a:t>
            </a: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	print(r)</a:t>
            </a: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	break</a:t>
            </a:r>
            <a:endParaRPr lang="en-US" sz="2400" b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929836-320A-4821-8EAA-CB517249394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079097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9042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941" y="1121677"/>
            <a:ext cx="9993394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Task 1: Go through each row of the </a:t>
            </a:r>
            <a:r>
              <a:rPr lang="en-US" sz="2300" b="1" dirty="0" err="1">
                <a:solidFill>
                  <a:srgbClr val="0070C0"/>
                </a:solidFill>
              </a:rPr>
              <a:t>df</a:t>
            </a:r>
            <a:r>
              <a:rPr lang="en-US" sz="2300" b="1" dirty="0">
                <a:solidFill>
                  <a:srgbClr val="0070C0"/>
                </a:solidFill>
              </a:rPr>
              <a:t> and delete (drop) if any of the cols is null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For I, r in </a:t>
            </a:r>
            <a:r>
              <a:rPr lang="en-US" sz="2300" b="1" dirty="0" err="1">
                <a:solidFill>
                  <a:srgbClr val="0070C0"/>
                </a:solidFill>
              </a:rPr>
              <a:t>df.iterrows</a:t>
            </a:r>
            <a:r>
              <a:rPr lang="en-US" sz="2300" b="1" dirty="0">
                <a:solidFill>
                  <a:srgbClr val="0070C0"/>
                </a:solidFill>
              </a:rPr>
              <a:t>():</a:t>
            </a: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	print(</a:t>
            </a:r>
            <a:r>
              <a:rPr lang="en-US" sz="2300" b="1" dirty="0" err="1">
                <a:solidFill>
                  <a:srgbClr val="0070C0"/>
                </a:solidFill>
              </a:rPr>
              <a:t>pd.isnull</a:t>
            </a:r>
            <a:r>
              <a:rPr lang="en-US" sz="2300" b="1" dirty="0">
                <a:solidFill>
                  <a:srgbClr val="0070C0"/>
                </a:solidFill>
              </a:rPr>
              <a:t>(r))</a:t>
            </a: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	break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For I, r in </a:t>
            </a:r>
            <a:r>
              <a:rPr lang="en-US" sz="2300" b="1" dirty="0" err="1">
                <a:solidFill>
                  <a:srgbClr val="0070C0"/>
                </a:solidFill>
              </a:rPr>
              <a:t>df.iterrows</a:t>
            </a:r>
            <a:r>
              <a:rPr lang="en-US" sz="2300" b="1" dirty="0">
                <a:solidFill>
                  <a:srgbClr val="0070C0"/>
                </a:solidFill>
              </a:rPr>
              <a:t>():</a:t>
            </a: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	print(</a:t>
            </a:r>
            <a:r>
              <a:rPr lang="en-US" sz="2300" b="1" dirty="0" err="1">
                <a:solidFill>
                  <a:srgbClr val="0070C0"/>
                </a:solidFill>
              </a:rPr>
              <a:t>pd.isnull</a:t>
            </a:r>
            <a:r>
              <a:rPr lang="en-US" sz="2300" b="1" dirty="0">
                <a:solidFill>
                  <a:srgbClr val="0070C0"/>
                </a:solidFill>
              </a:rPr>
              <a:t>(r).any()):</a:t>
            </a: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	break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For I, r in </a:t>
            </a:r>
            <a:r>
              <a:rPr lang="en-US" sz="2300" b="1" dirty="0" err="1">
                <a:solidFill>
                  <a:srgbClr val="0070C0"/>
                </a:solidFill>
              </a:rPr>
              <a:t>df</a:t>
            </a:r>
            <a:r>
              <a:rPr lang="en-US" sz="2300" b="1" dirty="0">
                <a:solidFill>
                  <a:srgbClr val="0070C0"/>
                </a:solidFill>
              </a:rPr>
              <a:t>. </a:t>
            </a:r>
            <a:r>
              <a:rPr lang="en-US" sz="2300" b="1" dirty="0" err="1">
                <a:solidFill>
                  <a:srgbClr val="0070C0"/>
                </a:solidFill>
              </a:rPr>
              <a:t>Iterrows</a:t>
            </a:r>
            <a:r>
              <a:rPr lang="en-US" sz="2300" b="1" dirty="0">
                <a:solidFill>
                  <a:srgbClr val="0070C0"/>
                </a:solidFill>
              </a:rPr>
              <a:t>():</a:t>
            </a: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	if </a:t>
            </a:r>
            <a:r>
              <a:rPr lang="en-US" sz="2300" b="1" dirty="0" err="1">
                <a:solidFill>
                  <a:srgbClr val="0070C0"/>
                </a:solidFill>
              </a:rPr>
              <a:t>pd.isnull</a:t>
            </a:r>
            <a:r>
              <a:rPr lang="en-US" sz="2300" b="1" dirty="0">
                <a:solidFill>
                  <a:srgbClr val="0070C0"/>
                </a:solidFill>
              </a:rPr>
              <a:t>(r).any():</a:t>
            </a: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	</a:t>
            </a:r>
            <a:r>
              <a:rPr lang="en-US" sz="2300" b="1" dirty="0" err="1">
                <a:solidFill>
                  <a:srgbClr val="0070C0"/>
                </a:solidFill>
              </a:rPr>
              <a:t>df.drop</a:t>
            </a:r>
            <a:r>
              <a:rPr lang="en-US" sz="2300" b="1" dirty="0">
                <a:solidFill>
                  <a:srgbClr val="0070C0"/>
                </a:solidFill>
              </a:rPr>
              <a:t>(I, </a:t>
            </a:r>
            <a:r>
              <a:rPr lang="en-US" sz="2300" b="1" dirty="0" err="1">
                <a:solidFill>
                  <a:srgbClr val="0070C0"/>
                </a:solidFill>
              </a:rPr>
              <a:t>inplace</a:t>
            </a:r>
            <a:r>
              <a:rPr lang="en-US" sz="2300" b="1" dirty="0">
                <a:solidFill>
                  <a:srgbClr val="0070C0"/>
                </a:solidFill>
              </a:rPr>
              <a:t> = True)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A96C33-B46A-4CDB-AC5F-E0E684078A5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725833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467100" y="0"/>
            <a:ext cx="8724899" cy="800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941" y="1089891"/>
            <a:ext cx="996275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Df.describe</a:t>
            </a:r>
            <a:r>
              <a:rPr lang="en-US" sz="2300" b="1" dirty="0">
                <a:solidFill>
                  <a:srgbClr val="0070C0"/>
                </a:solidFill>
              </a:rPr>
              <a:t>()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most efficient way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Df.dropna</a:t>
            </a:r>
            <a:r>
              <a:rPr lang="en-US" sz="2300" b="1" dirty="0">
                <a:solidFill>
                  <a:srgbClr val="0070C0"/>
                </a:solidFill>
              </a:rPr>
              <a:t>(</a:t>
            </a:r>
            <a:r>
              <a:rPr lang="en-US" sz="2300" b="1" dirty="0" err="1">
                <a:solidFill>
                  <a:srgbClr val="0070C0"/>
                </a:solidFill>
              </a:rPr>
              <a:t>inplace</a:t>
            </a:r>
            <a:r>
              <a:rPr lang="en-US" sz="2300" b="1" dirty="0">
                <a:solidFill>
                  <a:srgbClr val="0070C0"/>
                </a:solidFill>
              </a:rPr>
              <a:t> = true)</a:t>
            </a:r>
          </a:p>
          <a:p>
            <a:pPr>
              <a:defRPr/>
            </a:pPr>
            <a:r>
              <a:rPr lang="en-US" sz="2300" b="1" dirty="0" err="1">
                <a:solidFill>
                  <a:srgbClr val="0070C0"/>
                </a:solidFill>
              </a:rPr>
              <a:t>Df.describe</a:t>
            </a:r>
            <a:r>
              <a:rPr lang="en-US" sz="2300" b="1" dirty="0">
                <a:solidFill>
                  <a:srgbClr val="0070C0"/>
                </a:solidFill>
              </a:rPr>
              <a:t>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3459018"/>
            <a:ext cx="996275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Task 2: filter rows for planets found in 2010s and methods is ‘Radial Velocity’ &amp; ‘Transit’ &amp; distance is &gt; 75%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705464-9BA2-4BE1-8F34-F6F3C926FB1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29208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667125" y="0"/>
            <a:ext cx="8524874" cy="9042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121677"/>
            <a:ext cx="99627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# Method: 1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Df_1 = </a:t>
            </a:r>
            <a:r>
              <a:rPr lang="en-US" sz="2000" b="1" dirty="0" err="1">
                <a:solidFill>
                  <a:srgbClr val="0070C0"/>
                </a:solidFill>
              </a:rPr>
              <a:t>df.copy</a:t>
            </a:r>
            <a:r>
              <a:rPr lang="en-US" sz="2000" b="1" dirty="0">
                <a:solidFill>
                  <a:srgbClr val="0070C0"/>
                </a:solidFill>
              </a:rPr>
              <a:t>()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Per_75 = </a:t>
            </a:r>
            <a:r>
              <a:rPr lang="en-US" sz="2000" b="1" dirty="0" err="1">
                <a:solidFill>
                  <a:srgbClr val="0070C0"/>
                </a:solidFill>
              </a:rPr>
              <a:t>df.distance.quantile</a:t>
            </a:r>
            <a:r>
              <a:rPr lang="en-US" sz="2000" b="1" dirty="0">
                <a:solidFill>
                  <a:srgbClr val="0070C0"/>
                </a:solidFill>
              </a:rPr>
              <a:t>(0.75)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For I, r in df_1.iterrows():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if r[‘year’] &lt; 2010: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	df_1.drop(I, </a:t>
            </a:r>
            <a:r>
              <a:rPr lang="en-US" sz="2000" b="1" dirty="0" err="1">
                <a:solidFill>
                  <a:srgbClr val="0070C0"/>
                </a:solidFill>
              </a:rPr>
              <a:t>inplace</a:t>
            </a:r>
            <a:r>
              <a:rPr lang="en-US" sz="2000" b="1" dirty="0">
                <a:solidFill>
                  <a:srgbClr val="0070C0"/>
                </a:solidFill>
              </a:rPr>
              <a:t> = True)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	continue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if r[‘method’] != ‘Radial Velocity’ and r[‘method’] != ‘Transit’: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	df_1.drop(I, </a:t>
            </a:r>
            <a:r>
              <a:rPr lang="en-US" sz="2000" b="1" dirty="0" err="1">
                <a:solidFill>
                  <a:srgbClr val="0070C0"/>
                </a:solidFill>
              </a:rPr>
              <a:t>inplace</a:t>
            </a:r>
            <a:r>
              <a:rPr lang="en-US" sz="2000" b="1" dirty="0">
                <a:solidFill>
                  <a:srgbClr val="0070C0"/>
                </a:solidFill>
              </a:rPr>
              <a:t> = True)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	continue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if r[‘distance’] &lt; per_75: 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	df_1.drop(I, </a:t>
            </a:r>
            <a:r>
              <a:rPr lang="en-US" sz="2000" b="1" dirty="0" err="1">
                <a:solidFill>
                  <a:srgbClr val="0070C0"/>
                </a:solidFill>
              </a:rPr>
              <a:t>inplace</a:t>
            </a:r>
            <a:r>
              <a:rPr lang="en-US" sz="2000" b="1" dirty="0">
                <a:solidFill>
                  <a:srgbClr val="0070C0"/>
                </a:solidFill>
              </a:rPr>
              <a:t> = True)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	continue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Df_1.describe()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df_1.head()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Per_75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Df_1.tail()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022158-36E8-4BC3-ADAF-4733B9D69DD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618094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248025" y="0"/>
            <a:ext cx="6343938" cy="7666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121677"/>
            <a:ext cx="996275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# Method: 2 using indexing with conditions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Df_2 = </a:t>
            </a:r>
            <a:r>
              <a:rPr lang="en-US" sz="2000" b="1" dirty="0" err="1">
                <a:solidFill>
                  <a:srgbClr val="0070C0"/>
                </a:solidFill>
              </a:rPr>
              <a:t>df.copy</a:t>
            </a:r>
            <a:r>
              <a:rPr lang="en-US" sz="2000" b="1" dirty="0">
                <a:solidFill>
                  <a:srgbClr val="0070C0"/>
                </a:solidFill>
              </a:rPr>
              <a:t>()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Df_3 = df_2[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(df_2[‘year’] &gt; = 2010) &amp;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((df_2[‘method’] == ‘Radial Velocity’) | (df_2[‘method’] == ‘Transit’)) &amp;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(df_2[‘distance’] &gt; per_75)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]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0070C0"/>
                </a:solidFill>
              </a:rPr>
              <a:t>Df.describe</a:t>
            </a:r>
            <a:r>
              <a:rPr lang="en-US" sz="2000" b="1" dirty="0">
                <a:solidFill>
                  <a:srgbClr val="0070C0"/>
                </a:solidFill>
              </a:rPr>
              <a:t>()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04279" y="4770582"/>
            <a:ext cx="996275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Task 3: Modify the method column to have only the abbreviation of each method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9319491" y="757454"/>
            <a:ext cx="1948872" cy="1431636"/>
            <a:chOff x="9319491" y="757454"/>
            <a:chExt cx="1948872" cy="1431636"/>
          </a:xfrm>
        </p:grpSpPr>
        <p:sp>
          <p:nvSpPr>
            <p:cNvPr id="9" name="Rectangle 8"/>
            <p:cNvSpPr/>
            <p:nvPr/>
          </p:nvSpPr>
          <p:spPr>
            <a:xfrm>
              <a:off x="9319491" y="757454"/>
              <a:ext cx="1948872" cy="14224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10732654" y="757454"/>
              <a:ext cx="27709" cy="142240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0441709" y="757454"/>
              <a:ext cx="27709" cy="14224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0016836" y="757454"/>
              <a:ext cx="27709" cy="1422400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9654309" y="766690"/>
              <a:ext cx="27709" cy="142240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B988A947-8995-41A0-A411-4C3C86FA810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939150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609975" y="-9525"/>
            <a:ext cx="7810499" cy="9042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131202"/>
            <a:ext cx="996275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# Method: 1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Df_2.method.unique()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S = ‘Radial Velocity’</a:t>
            </a:r>
          </a:p>
          <a:p>
            <a:pPr>
              <a:defRPr/>
            </a:pPr>
            <a:r>
              <a:rPr lang="en-US" sz="2000" b="1" dirty="0" err="1">
                <a:solidFill>
                  <a:srgbClr val="0070C0"/>
                </a:solidFill>
              </a:rPr>
              <a:t>S.split</a:t>
            </a:r>
            <a:r>
              <a:rPr lang="en-US" sz="2000" b="1" dirty="0">
                <a:solidFill>
                  <a:srgbClr val="0070C0"/>
                </a:solidFill>
              </a:rPr>
              <a:t>(‘ ‘)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[x[0] for x in </a:t>
            </a:r>
            <a:r>
              <a:rPr lang="en-US" sz="2000" b="1" dirty="0" err="1">
                <a:solidFill>
                  <a:srgbClr val="0070C0"/>
                </a:solidFill>
              </a:rPr>
              <a:t>S.split</a:t>
            </a:r>
            <a:r>
              <a:rPr lang="en-US" sz="2000" b="1" dirty="0">
                <a:solidFill>
                  <a:srgbClr val="0070C0"/>
                </a:solidFill>
              </a:rPr>
              <a:t>(‘ ‘)]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‘ ‘.join([x[0] for x in </a:t>
            </a:r>
            <a:r>
              <a:rPr lang="en-US" sz="2000" b="1" dirty="0" err="1">
                <a:solidFill>
                  <a:srgbClr val="0070C0"/>
                </a:solidFill>
              </a:rPr>
              <a:t>S.split</a:t>
            </a:r>
            <a:r>
              <a:rPr lang="en-US" sz="2000" b="1" dirty="0">
                <a:solidFill>
                  <a:srgbClr val="0070C0"/>
                </a:solidFill>
              </a:rPr>
              <a:t>(‘ ‘)])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0070C0"/>
                </a:solidFill>
              </a:rPr>
              <a:t>Short_Names</a:t>
            </a:r>
            <a:r>
              <a:rPr lang="en-US" sz="2000" b="1" dirty="0">
                <a:solidFill>
                  <a:srgbClr val="0070C0"/>
                </a:solidFill>
              </a:rPr>
              <a:t> = {}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For s in </a:t>
            </a:r>
            <a:r>
              <a:rPr lang="en-US" sz="2000" b="1" dirty="0" err="1">
                <a:solidFill>
                  <a:srgbClr val="0070C0"/>
                </a:solidFill>
              </a:rPr>
              <a:t>df.method.unique</a:t>
            </a:r>
            <a:r>
              <a:rPr lang="en-US" sz="2000" b="1" dirty="0">
                <a:solidFill>
                  <a:srgbClr val="0070C0"/>
                </a:solidFill>
              </a:rPr>
              <a:t>():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</a:t>
            </a:r>
            <a:r>
              <a:rPr lang="en-US" sz="2000" b="1" dirty="0" err="1">
                <a:solidFill>
                  <a:srgbClr val="0070C0"/>
                </a:solidFill>
              </a:rPr>
              <a:t>short_name</a:t>
            </a:r>
            <a:r>
              <a:rPr lang="en-US" sz="2000" b="1" dirty="0">
                <a:solidFill>
                  <a:srgbClr val="0070C0"/>
                </a:solidFill>
              </a:rPr>
              <a:t>[s] = ‘ ‘.join([x[0] for x in </a:t>
            </a:r>
            <a:r>
              <a:rPr lang="en-US" sz="2000" b="1" dirty="0" err="1">
                <a:solidFill>
                  <a:srgbClr val="0070C0"/>
                </a:solidFill>
              </a:rPr>
              <a:t>S.split</a:t>
            </a:r>
            <a:r>
              <a:rPr lang="en-US" sz="2000" b="1" dirty="0">
                <a:solidFill>
                  <a:srgbClr val="0070C0"/>
                </a:solidFill>
              </a:rPr>
              <a:t>(‘ ‘)])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Print(Short_ Name)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AF32A1-6376-4D3C-B6DF-0F5C5BE328D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34109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9042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121677"/>
            <a:ext cx="99627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# Method: 1 Continued……..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For I, r in </a:t>
            </a:r>
            <a:r>
              <a:rPr lang="en-US" sz="2000" b="1" dirty="0" err="1">
                <a:solidFill>
                  <a:srgbClr val="0070C0"/>
                </a:solidFill>
              </a:rPr>
              <a:t>df.iterrows</a:t>
            </a:r>
            <a:r>
              <a:rPr lang="en-US" sz="2000" b="1" dirty="0">
                <a:solidFill>
                  <a:srgbClr val="0070C0"/>
                </a:solidFill>
              </a:rPr>
              <a:t>():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</a:t>
            </a:r>
            <a:r>
              <a:rPr lang="en-US" sz="2000" b="1" dirty="0" err="1">
                <a:solidFill>
                  <a:srgbClr val="0070C0"/>
                </a:solidFill>
              </a:rPr>
              <a:t>df.loc</a:t>
            </a:r>
            <a:r>
              <a:rPr lang="en-US" sz="2000" b="1" dirty="0">
                <a:solidFill>
                  <a:srgbClr val="0070C0"/>
                </a:solidFill>
              </a:rPr>
              <a:t>[I, ‘</a:t>
            </a:r>
            <a:r>
              <a:rPr lang="en-US" sz="2000" b="1" dirty="0" err="1">
                <a:solidFill>
                  <a:srgbClr val="0070C0"/>
                </a:solidFill>
              </a:rPr>
              <a:t>short_method</a:t>
            </a:r>
            <a:r>
              <a:rPr lang="en-US" sz="2000" b="1" dirty="0">
                <a:solidFill>
                  <a:srgbClr val="0070C0"/>
                </a:solidFill>
              </a:rPr>
              <a:t>’] = </a:t>
            </a:r>
            <a:r>
              <a:rPr lang="en-US" sz="2000" b="1" dirty="0" err="1">
                <a:solidFill>
                  <a:srgbClr val="0070C0"/>
                </a:solidFill>
              </a:rPr>
              <a:t>Short_Names.get</a:t>
            </a:r>
            <a:r>
              <a:rPr lang="en-US" sz="2000" b="1" dirty="0">
                <a:solidFill>
                  <a:srgbClr val="0070C0"/>
                </a:solidFill>
              </a:rPr>
              <a:t>(r[‘method’], r[‘method’])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# new </a:t>
            </a:r>
            <a:r>
              <a:rPr lang="en-US" sz="2000" b="1" dirty="0" err="1">
                <a:solidFill>
                  <a:srgbClr val="0070C0"/>
                </a:solidFill>
              </a:rPr>
              <a:t>coloumn</a:t>
            </a:r>
            <a:r>
              <a:rPr lang="en-US" sz="2000" b="1" dirty="0">
                <a:solidFill>
                  <a:srgbClr val="0070C0"/>
                </a:solidFill>
              </a:rPr>
              <a:t>		Get names form </a:t>
            </a:r>
            <a:r>
              <a:rPr lang="en-US" sz="2000" b="1" dirty="0" err="1">
                <a:solidFill>
                  <a:srgbClr val="0070C0"/>
                </a:solidFill>
              </a:rPr>
              <a:t>short_names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 err="1">
                <a:solidFill>
                  <a:srgbClr val="0070C0"/>
                </a:solidFill>
              </a:rPr>
              <a:t>dict</a:t>
            </a:r>
            <a:r>
              <a:rPr lang="en-US" sz="2000" b="1" dirty="0">
                <a:solidFill>
                  <a:srgbClr val="0070C0"/>
                </a:solidFill>
              </a:rPr>
              <a:t> by using get function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0070C0"/>
                </a:solidFill>
              </a:rPr>
              <a:t>Df.head</a:t>
            </a:r>
            <a:r>
              <a:rPr lang="en-US" sz="2000" b="1" dirty="0">
                <a:solidFill>
                  <a:srgbClr val="0070C0"/>
                </a:solidFill>
              </a:rPr>
              <a:t>()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0070C0"/>
                </a:solidFill>
              </a:rPr>
              <a:t>Df.tail</a:t>
            </a:r>
            <a:r>
              <a:rPr lang="en-US" sz="2000" b="1" dirty="0">
                <a:solidFill>
                  <a:srgbClr val="0070C0"/>
                </a:solidFill>
              </a:rPr>
              <a:t>()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C92143-3A91-4ABE-AB4F-3E38358B1C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176474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7715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121677"/>
            <a:ext cx="99627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# Method: 2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Df5 = </a:t>
            </a:r>
            <a:r>
              <a:rPr lang="en-US" sz="2000" b="1" dirty="0" err="1">
                <a:solidFill>
                  <a:srgbClr val="0070C0"/>
                </a:solidFill>
              </a:rPr>
              <a:t>sns.load_dataset</a:t>
            </a:r>
            <a:r>
              <a:rPr lang="en-US" sz="2000" b="1" dirty="0">
                <a:solidFill>
                  <a:srgbClr val="0070C0"/>
                </a:solidFill>
              </a:rPr>
              <a:t>(‘planets’)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Def </a:t>
            </a:r>
            <a:r>
              <a:rPr lang="en-US" sz="2000" b="1" dirty="0" err="1">
                <a:solidFill>
                  <a:srgbClr val="0070C0"/>
                </a:solidFill>
              </a:rPr>
              <a:t>Shorten_method</a:t>
            </a:r>
            <a:r>
              <a:rPr lang="en-US" sz="2000" b="1" dirty="0">
                <a:solidFill>
                  <a:srgbClr val="0070C0"/>
                </a:solidFill>
              </a:rPr>
              <a:t>(s):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</a:t>
            </a:r>
            <a:r>
              <a:rPr lang="en-US" sz="2000" b="1" dirty="0" err="1">
                <a:solidFill>
                  <a:srgbClr val="0070C0"/>
                </a:solidFill>
              </a:rPr>
              <a:t>Short_Names.get</a:t>
            </a:r>
            <a:r>
              <a:rPr lang="en-US" sz="2000" b="1" dirty="0">
                <a:solidFill>
                  <a:srgbClr val="0070C0"/>
                </a:solidFill>
              </a:rPr>
              <a:t>(</a:t>
            </a:r>
            <a:r>
              <a:rPr lang="en-US" sz="2000" b="1" dirty="0" err="1">
                <a:solidFill>
                  <a:srgbClr val="0070C0"/>
                </a:solidFill>
              </a:rPr>
              <a:t>s,s</a:t>
            </a:r>
            <a:r>
              <a:rPr lang="en-US" sz="2000" b="1" dirty="0">
                <a:solidFill>
                  <a:srgbClr val="0070C0"/>
                </a:solidFill>
              </a:rPr>
              <a:t>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df5[‘</a:t>
            </a:r>
            <a:r>
              <a:rPr lang="en-US" sz="2000" b="1" dirty="0" err="1">
                <a:solidFill>
                  <a:srgbClr val="0070C0"/>
                </a:solidFill>
              </a:rPr>
              <a:t>Short_Method</a:t>
            </a:r>
            <a:r>
              <a:rPr lang="en-US" sz="2000" b="1" dirty="0">
                <a:solidFill>
                  <a:srgbClr val="0070C0"/>
                </a:solidFill>
              </a:rPr>
              <a:t>’] = </a:t>
            </a:r>
            <a:r>
              <a:rPr lang="en-US" sz="2000" b="1" dirty="0" err="1">
                <a:solidFill>
                  <a:srgbClr val="0070C0"/>
                </a:solidFill>
              </a:rPr>
              <a:t>df</a:t>
            </a:r>
            <a:r>
              <a:rPr lang="en-US" sz="2000" b="1" dirty="0">
                <a:solidFill>
                  <a:srgbClr val="0070C0"/>
                </a:solidFill>
              </a:rPr>
              <a:t>[‘method’].apply(</a:t>
            </a:r>
            <a:r>
              <a:rPr lang="en-US" sz="2000" b="1" dirty="0" err="1">
                <a:solidFill>
                  <a:srgbClr val="0070C0"/>
                </a:solidFill>
              </a:rPr>
              <a:t>Shorten_method</a:t>
            </a:r>
            <a:r>
              <a:rPr lang="en-US" sz="2000" b="1" dirty="0">
                <a:solidFill>
                  <a:srgbClr val="0070C0"/>
                </a:solidFill>
              </a:rPr>
              <a:t>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#Apply </a:t>
            </a:r>
            <a:r>
              <a:rPr lang="en-US" sz="2000" b="1" dirty="0" err="1">
                <a:solidFill>
                  <a:srgbClr val="0070C0"/>
                </a:solidFill>
              </a:rPr>
              <a:t>Shorten_method</a:t>
            </a:r>
            <a:r>
              <a:rPr lang="en-US" sz="2000" b="1" dirty="0">
                <a:solidFill>
                  <a:srgbClr val="0070C0"/>
                </a:solidFill>
              </a:rPr>
              <a:t> to each </a:t>
            </a:r>
            <a:r>
              <a:rPr lang="en-US" sz="2000" b="1" dirty="0" err="1">
                <a:solidFill>
                  <a:srgbClr val="0070C0"/>
                </a:solidFill>
              </a:rPr>
              <a:t>coloumn</a:t>
            </a:r>
            <a:r>
              <a:rPr lang="en-US" sz="2000" b="1" dirty="0">
                <a:solidFill>
                  <a:srgbClr val="0070C0"/>
                </a:solidFill>
              </a:rPr>
              <a:t> in df5/method column take the result and put it into </a:t>
            </a:r>
            <a:r>
              <a:rPr lang="en-US" sz="2000" b="1" dirty="0" err="1">
                <a:solidFill>
                  <a:srgbClr val="0070C0"/>
                </a:solidFill>
              </a:rPr>
              <a:t>Short_Method</a:t>
            </a:r>
            <a:r>
              <a:rPr lang="en-US" sz="2000" b="1" dirty="0">
                <a:solidFill>
                  <a:srgbClr val="0070C0"/>
                </a:solidFill>
              </a:rPr>
              <a:t> column.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4279" y="4770582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Task 4: count the number of planets discovered for each method type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1412E5-9AD5-41B8-AF01-A866B2CC157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77483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970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2294797"/>
            <a:ext cx="99627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# Step 1. Split the data frame into smaller chunks (in this case they should have the same method name)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# Step 2. Apply some function in each smaller chuck (count function)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# Step 3. Aggregate the results from each chunk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1941" y="1384826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Task 4: count the number of planets discovered for each method type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495873-B941-4874-A4F9-6987A80E483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541186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970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2272247"/>
            <a:ext cx="99627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D = {} 	# for printing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For m in df5.method.unique():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</a:t>
            </a:r>
            <a:r>
              <a:rPr lang="en-US" sz="2000" b="1" strike="sngStrike" dirty="0">
                <a:solidFill>
                  <a:srgbClr val="0070C0"/>
                </a:solidFill>
              </a:rPr>
              <a:t>df5[df5.method == m]</a:t>
            </a:r>
            <a:r>
              <a:rPr lang="en-US" sz="2000" b="1" dirty="0">
                <a:solidFill>
                  <a:srgbClr val="0070C0"/>
                </a:solidFill>
              </a:rPr>
              <a:t>		# aggregation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</a:t>
            </a:r>
            <a:r>
              <a:rPr lang="en-US" sz="2000" b="1" strike="sngStrike" dirty="0">
                <a:solidFill>
                  <a:srgbClr val="0070C0"/>
                </a:solidFill>
              </a:rPr>
              <a:t> df5[df5.method == m].count()</a:t>
            </a:r>
            <a:r>
              <a:rPr lang="en-US" sz="2000" b="1" dirty="0">
                <a:solidFill>
                  <a:srgbClr val="0070C0"/>
                </a:solidFill>
              </a:rPr>
              <a:t>	# count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</a:t>
            </a:r>
            <a:r>
              <a:rPr lang="en-US" sz="2000" b="1" strike="sngStrike" dirty="0">
                <a:solidFill>
                  <a:srgbClr val="0070C0"/>
                </a:solidFill>
              </a:rPr>
              <a:t>print(m)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</a:t>
            </a:r>
            <a:r>
              <a:rPr lang="en-US" sz="2000" b="1" strike="sngStrike" dirty="0">
                <a:solidFill>
                  <a:srgbClr val="0070C0"/>
                </a:solidFill>
              </a:rPr>
              <a:t>print(df5[df5.method == m].count())</a:t>
            </a:r>
            <a:r>
              <a:rPr lang="en-US" sz="2000" b="1" dirty="0">
                <a:solidFill>
                  <a:srgbClr val="0070C0"/>
                </a:solidFill>
              </a:rPr>
              <a:t> 	# print all the </a:t>
            </a:r>
            <a:r>
              <a:rPr lang="en-US" sz="2000" b="1" dirty="0" err="1">
                <a:solidFill>
                  <a:srgbClr val="0070C0"/>
                </a:solidFill>
              </a:rPr>
              <a:t>coloums</a:t>
            </a: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 print(df5[df5.method == m][‘method’].count())  	# aggregation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	d[m] = </a:t>
            </a:r>
            <a:r>
              <a:rPr lang="en-US" sz="2000" b="1" dirty="0" err="1">
                <a:solidFill>
                  <a:srgbClr val="0070C0"/>
                </a:solidFill>
              </a:rPr>
              <a:t>df</a:t>
            </a:r>
            <a:r>
              <a:rPr lang="en-US" sz="2000" b="1" dirty="0">
                <a:solidFill>
                  <a:srgbClr val="0070C0"/>
                </a:solidFill>
              </a:rPr>
              <a:t>[</a:t>
            </a:r>
            <a:r>
              <a:rPr lang="en-US" sz="2000" b="1" dirty="0" err="1">
                <a:solidFill>
                  <a:srgbClr val="0070C0"/>
                </a:solidFill>
              </a:rPr>
              <a:t>df.method</a:t>
            </a:r>
            <a:r>
              <a:rPr lang="en-US" sz="2000" b="1" dirty="0">
                <a:solidFill>
                  <a:srgbClr val="0070C0"/>
                </a:solidFill>
              </a:rPr>
              <a:t> == m][‘method’].count()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print(d)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1941" y="1384826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Method 1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E6FBE9-74D5-4E13-A374-1C9E44FA369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12021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419475" y="0"/>
            <a:ext cx="8772524" cy="8002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2272247"/>
            <a:ext cx="99627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strike="sngStrike" dirty="0">
                <a:solidFill>
                  <a:srgbClr val="0070C0"/>
                </a:solidFill>
              </a:rPr>
              <a:t>Df5.groupby(‘method’).count()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# grouping based on column ‘method’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Df5.groupby(‘method’)[‘method’].count()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# grouping based on column ‘method’ and count on column ‘method’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Print(d)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Df5.groupby(‘method’) [‘distance’].mean()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91941" y="1384826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Method 2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64050" y="5398026"/>
            <a:ext cx="996275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Task 5: Find out what fraction of planets have been found in the last </a:t>
            </a:r>
            <a:r>
              <a:rPr lang="en-US" sz="2300" b="1" dirty="0" err="1">
                <a:solidFill>
                  <a:srgbClr val="0070C0"/>
                </a:solidFill>
              </a:rPr>
              <a:t>decase</a:t>
            </a:r>
            <a:r>
              <a:rPr lang="en-US" sz="2300" b="1" dirty="0">
                <a:solidFill>
                  <a:srgbClr val="0070C0"/>
                </a:solidFill>
              </a:rPr>
              <a:t>(2010s) across each method type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7C5D91-44F7-4BEA-AC73-61D0FCA972F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000571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476625" y="0"/>
            <a:ext cx="8715374" cy="8286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2272247"/>
            <a:ext cx="99627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# Step 1:  Filter the data for given condition ( planets found in last decade)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# Step 2: Split based on the method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# Step 3: Apply count  function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# Step 4: Aggregate the final results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Task 5: Find out what fraction of planets have been found in the last </a:t>
            </a:r>
            <a:r>
              <a:rPr lang="en-US" sz="2300" b="1" dirty="0" err="1">
                <a:solidFill>
                  <a:srgbClr val="0070C0"/>
                </a:solidFill>
              </a:rPr>
              <a:t>decase</a:t>
            </a:r>
            <a:r>
              <a:rPr lang="en-US" sz="2300" b="1" dirty="0">
                <a:solidFill>
                  <a:srgbClr val="0070C0"/>
                </a:solidFill>
              </a:rPr>
              <a:t>(2010s) across each method type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355652-5736-413F-8AE2-21ED113EDC0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06174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552825" y="0"/>
            <a:ext cx="8639174" cy="800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2272247"/>
            <a:ext cx="996275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Df5[df5.year &gt;= 2010]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Df5[df5.year &gt;= 2010].</a:t>
            </a:r>
            <a:r>
              <a:rPr lang="en-US" sz="2000" b="1" dirty="0" err="1">
                <a:solidFill>
                  <a:srgbClr val="0070C0"/>
                </a:solidFill>
              </a:rPr>
              <a:t>groupby</a:t>
            </a:r>
            <a:r>
              <a:rPr lang="en-US" sz="2000" b="1" dirty="0">
                <a:solidFill>
                  <a:srgbClr val="0070C0"/>
                </a:solidFill>
              </a:rPr>
              <a:t>(‘method’)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Df5[df5.year &gt;= 2010].</a:t>
            </a:r>
            <a:r>
              <a:rPr lang="en-US" sz="2000" b="1" dirty="0" err="1">
                <a:solidFill>
                  <a:srgbClr val="0070C0"/>
                </a:solidFill>
              </a:rPr>
              <a:t>groupby</a:t>
            </a:r>
            <a:r>
              <a:rPr lang="en-US" sz="2000" b="1" dirty="0">
                <a:solidFill>
                  <a:srgbClr val="0070C0"/>
                </a:solidFill>
              </a:rPr>
              <a:t>(‘method’)[‘method’].count()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S_2010s = Df5[df5.year &gt;= 2010].</a:t>
            </a:r>
            <a:r>
              <a:rPr lang="en-US" sz="2000" b="1" dirty="0" err="1">
                <a:solidFill>
                  <a:srgbClr val="0070C0"/>
                </a:solidFill>
              </a:rPr>
              <a:t>groupby</a:t>
            </a:r>
            <a:r>
              <a:rPr lang="en-US" sz="2000" b="1" dirty="0">
                <a:solidFill>
                  <a:srgbClr val="0070C0"/>
                </a:solidFill>
              </a:rPr>
              <a:t>(‘method’)[‘method’].count()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0070C0"/>
                </a:solidFill>
              </a:rPr>
              <a:t>S_alltime</a:t>
            </a:r>
            <a:r>
              <a:rPr lang="en-US" sz="2000" b="1" dirty="0">
                <a:solidFill>
                  <a:srgbClr val="0070C0"/>
                </a:solidFill>
              </a:rPr>
              <a:t> = Df5.groupby(‘method’)[‘method’].count()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</a:rPr>
              <a:t>S_2010s / </a:t>
            </a:r>
            <a:r>
              <a:rPr lang="en-US" sz="2000" b="1" dirty="0" err="1">
                <a:solidFill>
                  <a:srgbClr val="0070C0"/>
                </a:solidFill>
              </a:rPr>
              <a:t>s_alltime</a:t>
            </a: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Task 5: Find out what fraction of planets have been found in the last </a:t>
            </a:r>
            <a:r>
              <a:rPr lang="en-US" sz="2300" b="1" dirty="0" err="1">
                <a:solidFill>
                  <a:srgbClr val="0070C0"/>
                </a:solidFill>
              </a:rPr>
              <a:t>decase</a:t>
            </a:r>
            <a:r>
              <a:rPr lang="en-US" sz="2300" b="1" dirty="0">
                <a:solidFill>
                  <a:srgbClr val="0070C0"/>
                </a:solidFill>
              </a:rPr>
              <a:t>(2010s) across each method type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0B1581-83A1-4B6A-8694-60DE40A4C13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67871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543300" y="0"/>
            <a:ext cx="8648699" cy="723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8793" y="1463477"/>
            <a:ext cx="99627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Browse through the data &amp; understand the data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What are the number of entries in the data set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Print the name of all the column header in the dataset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How is the data set indexed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Which Item was the most ordered item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For the most ordered find quantity of items ordered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What was the most ordered item based on choose description column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How many items were ordered in total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Convert the item price into float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Create a </a:t>
            </a:r>
            <a:r>
              <a:rPr lang="en-US" sz="2400" b="1" dirty="0" err="1">
                <a:solidFill>
                  <a:srgbClr val="0070C0"/>
                </a:solidFill>
              </a:rPr>
              <a:t>lambada</a:t>
            </a:r>
            <a:r>
              <a:rPr lang="en-US" sz="2400" b="1" dirty="0">
                <a:solidFill>
                  <a:srgbClr val="0070C0"/>
                </a:solidFill>
              </a:rPr>
              <a:t> function and change the type of item price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What was the total revenue for the period of the dataset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How many orders were made in the period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What was the average revenue per order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How many different items are sold ( or on the menu)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Chipotle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73962D-962A-41C2-9AE4-57EFB4EDA6C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966014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9042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en-US" sz="2000" b="1" dirty="0">
                <a:solidFill>
                  <a:srgbClr val="0070C0"/>
                </a:solidFill>
              </a:rPr>
              <a:t>Browse through the data &amp; understand the data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 lvl="1"/>
            <a:r>
              <a:rPr lang="en-IN" sz="2400" b="1" dirty="0">
                <a:solidFill>
                  <a:srgbClr val="0070C0"/>
                </a:solidFill>
              </a:rPr>
              <a:t>import </a:t>
            </a:r>
            <a:r>
              <a:rPr lang="en-IN" sz="2400" b="1" dirty="0" err="1">
                <a:solidFill>
                  <a:srgbClr val="0070C0"/>
                </a:solidFill>
              </a:rPr>
              <a:t>numpy</a:t>
            </a:r>
            <a:r>
              <a:rPr lang="en-IN" sz="2400" b="1" dirty="0">
                <a:solidFill>
                  <a:srgbClr val="0070C0"/>
                </a:solidFill>
              </a:rPr>
              <a:t> as np</a:t>
            </a:r>
          </a:p>
          <a:p>
            <a:pPr lvl="1"/>
            <a:r>
              <a:rPr lang="en-IN" sz="2400" b="1" dirty="0">
                <a:solidFill>
                  <a:srgbClr val="0070C0"/>
                </a:solidFill>
              </a:rPr>
              <a:t>import pandas as </a:t>
            </a:r>
            <a:r>
              <a:rPr lang="en-IN" sz="2400" b="1" dirty="0" err="1">
                <a:solidFill>
                  <a:srgbClr val="0070C0"/>
                </a:solidFill>
              </a:rPr>
              <a:t>pd</a:t>
            </a:r>
            <a:endParaRPr lang="en-IN" sz="2400" b="1" dirty="0">
              <a:solidFill>
                <a:srgbClr val="0070C0"/>
              </a:solidFill>
            </a:endParaRPr>
          </a:p>
          <a:p>
            <a:pPr lvl="1"/>
            <a:r>
              <a:rPr lang="en-IN" sz="2400" b="1" dirty="0" err="1">
                <a:solidFill>
                  <a:srgbClr val="0070C0"/>
                </a:solidFill>
              </a:rPr>
              <a:t>chipo</a:t>
            </a:r>
            <a:r>
              <a:rPr lang="en-IN" sz="2400" b="1" dirty="0">
                <a:solidFill>
                  <a:srgbClr val="0070C0"/>
                </a:solidFill>
              </a:rPr>
              <a:t> = </a:t>
            </a:r>
            <a:r>
              <a:rPr lang="en-IN" sz="2400" b="1" dirty="0" err="1">
                <a:solidFill>
                  <a:srgbClr val="0070C0"/>
                </a:solidFill>
              </a:rPr>
              <a:t>pd.read_csv</a:t>
            </a:r>
            <a:r>
              <a:rPr lang="en-IN" sz="2400" b="1" dirty="0">
                <a:solidFill>
                  <a:srgbClr val="0070C0"/>
                </a:solidFill>
              </a:rPr>
              <a:t>('</a:t>
            </a:r>
            <a:r>
              <a:rPr lang="en-IN" sz="2400" b="1" dirty="0" err="1">
                <a:solidFill>
                  <a:srgbClr val="0070C0"/>
                </a:solidFill>
              </a:rPr>
              <a:t>Chipotle.tsv</a:t>
            </a:r>
            <a:r>
              <a:rPr lang="en-IN" sz="2400" b="1" dirty="0">
                <a:solidFill>
                  <a:srgbClr val="0070C0"/>
                </a:solidFill>
              </a:rPr>
              <a:t>', </a:t>
            </a:r>
            <a:r>
              <a:rPr lang="en-IN" sz="2400" b="1" dirty="0" err="1">
                <a:solidFill>
                  <a:srgbClr val="0070C0"/>
                </a:solidFill>
              </a:rPr>
              <a:t>sep</a:t>
            </a:r>
            <a:r>
              <a:rPr lang="en-IN" sz="2400" b="1" dirty="0">
                <a:solidFill>
                  <a:srgbClr val="0070C0"/>
                </a:solidFill>
              </a:rPr>
              <a:t> ='\t')</a:t>
            </a:r>
          </a:p>
          <a:p>
            <a:pPr lvl="1"/>
            <a:r>
              <a:rPr lang="en-IN" sz="2400" b="1" dirty="0" err="1">
                <a:solidFill>
                  <a:srgbClr val="0070C0"/>
                </a:solidFill>
              </a:rPr>
              <a:t>chipo.head</a:t>
            </a:r>
            <a:r>
              <a:rPr lang="en-IN" sz="2400" b="1" dirty="0">
                <a:solidFill>
                  <a:srgbClr val="0070C0"/>
                </a:solidFill>
              </a:rPr>
              <a:t>(50)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Chipotle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093CFF-BCAF-46B1-B5E6-9008B8A8B53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00132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8002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What are the number of entries in the data set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Print the name of all the column header in the dataset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 lvl="1"/>
            <a:r>
              <a:rPr lang="en-IN" sz="2400" b="1" dirty="0" err="1">
                <a:solidFill>
                  <a:srgbClr val="0070C0"/>
                </a:solidFill>
              </a:rPr>
              <a:t>chipo.shape</a:t>
            </a:r>
            <a:r>
              <a:rPr lang="en-IN" sz="2400" b="1" dirty="0">
                <a:solidFill>
                  <a:srgbClr val="0070C0"/>
                </a:solidFill>
              </a:rPr>
              <a:t>[0]</a:t>
            </a:r>
          </a:p>
          <a:p>
            <a:pPr lvl="1"/>
            <a:r>
              <a:rPr lang="en-IN" sz="2400" b="1" dirty="0">
                <a:solidFill>
                  <a:srgbClr val="0070C0"/>
                </a:solidFill>
              </a:rPr>
              <a:t>chipo.info()</a:t>
            </a:r>
          </a:p>
          <a:p>
            <a:pPr lvl="1"/>
            <a:r>
              <a:rPr lang="en-IN" sz="2400" b="1" dirty="0" err="1">
                <a:solidFill>
                  <a:srgbClr val="0070C0"/>
                </a:solidFill>
              </a:rPr>
              <a:t>chipo.shape</a:t>
            </a:r>
            <a:r>
              <a:rPr lang="en-IN" sz="2400" b="1" dirty="0">
                <a:solidFill>
                  <a:srgbClr val="0070C0"/>
                </a:solidFill>
              </a:rPr>
              <a:t>[1]</a:t>
            </a:r>
          </a:p>
          <a:p>
            <a:pPr lvl="1"/>
            <a:r>
              <a:rPr lang="en-IN" sz="2400" b="1" dirty="0" err="1">
                <a:solidFill>
                  <a:srgbClr val="0070C0"/>
                </a:solidFill>
              </a:rPr>
              <a:t>chipo.columns</a:t>
            </a:r>
            <a:endParaRPr lang="en-IN" sz="24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Chipotle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5E28D6-3A52-45E3-8D0B-E4C53230F4A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902493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8002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How is the data set indexed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Which Item was the most ordered item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For the most ordered find quantity of items ordered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 lvl="1"/>
            <a:r>
              <a:rPr lang="en-IN" sz="2400" b="1" dirty="0" err="1">
                <a:solidFill>
                  <a:srgbClr val="0070C0"/>
                </a:solidFill>
              </a:rPr>
              <a:t>chipo.index</a:t>
            </a:r>
            <a:endParaRPr lang="en-IN" sz="2400" b="1" dirty="0">
              <a:solidFill>
                <a:srgbClr val="0070C0"/>
              </a:solidFill>
            </a:endParaRPr>
          </a:p>
          <a:p>
            <a:pPr lvl="1"/>
            <a:endParaRPr lang="en-IN" sz="2400" b="1" dirty="0">
              <a:solidFill>
                <a:srgbClr val="0070C0"/>
              </a:solidFill>
            </a:endParaRPr>
          </a:p>
          <a:p>
            <a:pPr lvl="1"/>
            <a:r>
              <a:rPr lang="en-IN" sz="2400" b="1" dirty="0">
                <a:solidFill>
                  <a:srgbClr val="0070C0"/>
                </a:solidFill>
              </a:rPr>
              <a:t>c = </a:t>
            </a:r>
            <a:r>
              <a:rPr lang="en-IN" sz="2400" b="1" dirty="0" err="1">
                <a:solidFill>
                  <a:srgbClr val="0070C0"/>
                </a:solidFill>
              </a:rPr>
              <a:t>chipo.groupby</a:t>
            </a:r>
            <a:r>
              <a:rPr lang="en-IN" sz="2400" b="1" dirty="0">
                <a:solidFill>
                  <a:srgbClr val="0070C0"/>
                </a:solidFill>
              </a:rPr>
              <a:t>('</a:t>
            </a:r>
            <a:r>
              <a:rPr lang="en-IN" sz="2400" b="1" dirty="0" err="1">
                <a:solidFill>
                  <a:srgbClr val="0070C0"/>
                </a:solidFill>
              </a:rPr>
              <a:t>item_name</a:t>
            </a:r>
            <a:r>
              <a:rPr lang="en-IN" sz="2400" b="1" dirty="0">
                <a:solidFill>
                  <a:srgbClr val="0070C0"/>
                </a:solidFill>
              </a:rPr>
              <a:t>')</a:t>
            </a:r>
          </a:p>
          <a:p>
            <a:pPr lvl="1"/>
            <a:r>
              <a:rPr lang="en-IN" sz="2400" b="1" dirty="0">
                <a:solidFill>
                  <a:srgbClr val="0070C0"/>
                </a:solidFill>
              </a:rPr>
              <a:t>c = </a:t>
            </a:r>
            <a:r>
              <a:rPr lang="en-IN" sz="2400" b="1" dirty="0" err="1">
                <a:solidFill>
                  <a:srgbClr val="0070C0"/>
                </a:solidFill>
              </a:rPr>
              <a:t>c.sum</a:t>
            </a:r>
            <a:r>
              <a:rPr lang="en-IN" sz="2400" b="1" dirty="0">
                <a:solidFill>
                  <a:srgbClr val="0070C0"/>
                </a:solidFill>
              </a:rPr>
              <a:t>()</a:t>
            </a:r>
          </a:p>
          <a:p>
            <a:pPr lvl="1"/>
            <a:r>
              <a:rPr lang="en-IN" sz="2400" b="1" dirty="0">
                <a:solidFill>
                  <a:srgbClr val="0070C0"/>
                </a:solidFill>
              </a:rPr>
              <a:t>c = </a:t>
            </a:r>
            <a:r>
              <a:rPr lang="en-IN" sz="2400" b="1" dirty="0" err="1">
                <a:solidFill>
                  <a:srgbClr val="0070C0"/>
                </a:solidFill>
              </a:rPr>
              <a:t>c.sort_values</a:t>
            </a:r>
            <a:r>
              <a:rPr lang="en-IN" sz="2400" b="1" dirty="0">
                <a:solidFill>
                  <a:srgbClr val="0070C0"/>
                </a:solidFill>
              </a:rPr>
              <a:t>(['quantity'], ascending=False)</a:t>
            </a:r>
          </a:p>
          <a:p>
            <a:pPr lvl="1"/>
            <a:r>
              <a:rPr lang="en-IN" sz="2400" b="1" dirty="0" err="1">
                <a:solidFill>
                  <a:srgbClr val="0070C0"/>
                </a:solidFill>
              </a:rPr>
              <a:t>c.head</a:t>
            </a:r>
            <a:r>
              <a:rPr lang="en-IN" sz="2400" b="1" dirty="0">
                <a:solidFill>
                  <a:srgbClr val="0070C0"/>
                </a:solidFill>
              </a:rPr>
              <a:t>(1)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Chipotle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9417B6-EAF5-4A8E-A79B-442A3530066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74075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543300" y="66675"/>
            <a:ext cx="6515100" cy="7048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What was the most ordered item based on choose description column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 lvl="1"/>
            <a:r>
              <a:rPr lang="en-IN" sz="2400" b="1" dirty="0">
                <a:solidFill>
                  <a:srgbClr val="0070C0"/>
                </a:solidFill>
              </a:rPr>
              <a:t>c = </a:t>
            </a:r>
            <a:r>
              <a:rPr lang="en-IN" sz="2400" b="1" dirty="0" err="1">
                <a:solidFill>
                  <a:srgbClr val="0070C0"/>
                </a:solidFill>
              </a:rPr>
              <a:t>chipo.groupby</a:t>
            </a:r>
            <a:r>
              <a:rPr lang="en-IN" sz="2400" b="1" dirty="0">
                <a:solidFill>
                  <a:srgbClr val="0070C0"/>
                </a:solidFill>
              </a:rPr>
              <a:t>('</a:t>
            </a:r>
            <a:r>
              <a:rPr lang="en-IN" sz="2400" b="1" dirty="0" err="1">
                <a:solidFill>
                  <a:srgbClr val="0070C0"/>
                </a:solidFill>
              </a:rPr>
              <a:t>choice_description</a:t>
            </a:r>
            <a:r>
              <a:rPr lang="en-IN" sz="2400" b="1" dirty="0">
                <a:solidFill>
                  <a:srgbClr val="0070C0"/>
                </a:solidFill>
              </a:rPr>
              <a:t>').sum()</a:t>
            </a:r>
          </a:p>
          <a:p>
            <a:pPr lvl="1"/>
            <a:r>
              <a:rPr lang="en-IN" sz="2400" b="1" dirty="0">
                <a:solidFill>
                  <a:srgbClr val="0070C0"/>
                </a:solidFill>
              </a:rPr>
              <a:t>c = </a:t>
            </a:r>
            <a:r>
              <a:rPr lang="en-IN" sz="2400" b="1" dirty="0" err="1">
                <a:solidFill>
                  <a:srgbClr val="0070C0"/>
                </a:solidFill>
              </a:rPr>
              <a:t>c.sort_values</a:t>
            </a:r>
            <a:r>
              <a:rPr lang="en-IN" sz="2400" b="1" dirty="0">
                <a:solidFill>
                  <a:srgbClr val="0070C0"/>
                </a:solidFill>
              </a:rPr>
              <a:t>(['quantity'], ascending=False)</a:t>
            </a:r>
          </a:p>
          <a:p>
            <a:pPr lvl="1"/>
            <a:r>
              <a:rPr lang="en-IN" sz="2400" b="1" dirty="0" err="1">
                <a:solidFill>
                  <a:srgbClr val="0070C0"/>
                </a:solidFill>
              </a:rPr>
              <a:t>c.head</a:t>
            </a:r>
            <a:r>
              <a:rPr lang="en-IN" sz="2400" b="1" dirty="0">
                <a:solidFill>
                  <a:srgbClr val="0070C0"/>
                </a:solidFill>
              </a:rPr>
              <a:t>(1)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Chipotle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04DF6B-6196-458C-82F8-3C5B6D86CE5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08128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8002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How many items were ordered in total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Check data type for item price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 lvl="1"/>
            <a:r>
              <a:rPr lang="en-IN" sz="2400" b="1" dirty="0" err="1">
                <a:solidFill>
                  <a:srgbClr val="0070C0"/>
                </a:solidFill>
              </a:rPr>
              <a:t>total_items_orders</a:t>
            </a:r>
            <a:r>
              <a:rPr lang="en-IN" sz="2400" b="1" dirty="0">
                <a:solidFill>
                  <a:srgbClr val="0070C0"/>
                </a:solidFill>
              </a:rPr>
              <a:t> = </a:t>
            </a:r>
            <a:r>
              <a:rPr lang="en-IN" sz="2400" b="1" dirty="0" err="1">
                <a:solidFill>
                  <a:srgbClr val="0070C0"/>
                </a:solidFill>
              </a:rPr>
              <a:t>chipo.quantity.sum</a:t>
            </a:r>
            <a:r>
              <a:rPr lang="en-IN" sz="2400" b="1" dirty="0">
                <a:solidFill>
                  <a:srgbClr val="0070C0"/>
                </a:solidFill>
              </a:rPr>
              <a:t>()</a:t>
            </a:r>
          </a:p>
          <a:p>
            <a:pPr lvl="1"/>
            <a:r>
              <a:rPr lang="en-IN" sz="2400" b="1" dirty="0" err="1">
                <a:solidFill>
                  <a:srgbClr val="0070C0"/>
                </a:solidFill>
              </a:rPr>
              <a:t>total_items_orders</a:t>
            </a:r>
            <a:endParaRPr lang="en-IN" sz="2400" b="1" dirty="0">
              <a:solidFill>
                <a:srgbClr val="0070C0"/>
              </a:solidFill>
            </a:endParaRPr>
          </a:p>
          <a:p>
            <a:pPr lvl="1"/>
            <a:endParaRPr lang="en-US" sz="2400" b="1" dirty="0">
              <a:solidFill>
                <a:srgbClr val="0070C0"/>
              </a:solidFill>
            </a:endParaRPr>
          </a:p>
          <a:p>
            <a:pPr lvl="1"/>
            <a:r>
              <a:rPr lang="en-US" sz="2400" b="1" dirty="0" err="1">
                <a:solidFill>
                  <a:srgbClr val="0070C0"/>
                </a:solidFill>
              </a:rPr>
              <a:t>chipo.item_price.dtype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Chipotle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0B875C-7E0E-490E-9746-3FDA852C7A5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931168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524250" y="0"/>
            <a:ext cx="5953125" cy="8002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Convert the item price into float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Create a </a:t>
            </a:r>
            <a:r>
              <a:rPr lang="en-US" sz="2000" b="1" dirty="0" err="1">
                <a:solidFill>
                  <a:srgbClr val="0070C0"/>
                </a:solidFill>
              </a:rPr>
              <a:t>lambada</a:t>
            </a:r>
            <a:r>
              <a:rPr lang="en-US" sz="2000" b="1" dirty="0">
                <a:solidFill>
                  <a:srgbClr val="0070C0"/>
                </a:solidFill>
              </a:rPr>
              <a:t> function and change the type of item price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 lvl="1"/>
            <a:endParaRPr lang="en-IN" sz="2400" b="1" dirty="0">
              <a:solidFill>
                <a:srgbClr val="0070C0"/>
              </a:solidFill>
            </a:endParaRPr>
          </a:p>
          <a:p>
            <a:pPr lvl="1"/>
            <a:r>
              <a:rPr lang="en-IN" sz="2400" b="1" dirty="0" err="1">
                <a:solidFill>
                  <a:srgbClr val="0070C0"/>
                </a:solidFill>
              </a:rPr>
              <a:t>dollarizer</a:t>
            </a:r>
            <a:r>
              <a:rPr lang="en-IN" sz="2400" b="1" dirty="0">
                <a:solidFill>
                  <a:srgbClr val="0070C0"/>
                </a:solidFill>
              </a:rPr>
              <a:t> = lambda x: float(x[1:-1])</a:t>
            </a:r>
          </a:p>
          <a:p>
            <a:pPr lvl="1"/>
            <a:r>
              <a:rPr lang="en-IN" sz="2400" b="1" dirty="0" err="1">
                <a:solidFill>
                  <a:srgbClr val="0070C0"/>
                </a:solidFill>
              </a:rPr>
              <a:t>chipo.item_price</a:t>
            </a:r>
            <a:r>
              <a:rPr lang="en-IN" sz="2400" b="1" dirty="0">
                <a:solidFill>
                  <a:srgbClr val="0070C0"/>
                </a:solidFill>
              </a:rPr>
              <a:t> = </a:t>
            </a:r>
            <a:r>
              <a:rPr lang="en-IN" sz="2400" b="1" dirty="0" err="1">
                <a:solidFill>
                  <a:srgbClr val="0070C0"/>
                </a:solidFill>
              </a:rPr>
              <a:t>chipo.item_price.apply</a:t>
            </a:r>
            <a:r>
              <a:rPr lang="en-IN" sz="2400" b="1" dirty="0">
                <a:solidFill>
                  <a:srgbClr val="0070C0"/>
                </a:solidFill>
              </a:rPr>
              <a:t>(</a:t>
            </a:r>
            <a:r>
              <a:rPr lang="en-IN" sz="2400" b="1" dirty="0" err="1">
                <a:solidFill>
                  <a:srgbClr val="0070C0"/>
                </a:solidFill>
              </a:rPr>
              <a:t>dollarizer</a:t>
            </a:r>
            <a:r>
              <a:rPr lang="en-IN" sz="2400" b="1" dirty="0">
                <a:solidFill>
                  <a:srgbClr val="0070C0"/>
                </a:solidFill>
              </a:rPr>
              <a:t>)</a:t>
            </a:r>
          </a:p>
          <a:p>
            <a:pPr lvl="1"/>
            <a:endParaRPr lang="en-IN" sz="2400" b="1" dirty="0">
              <a:solidFill>
                <a:srgbClr val="0070C0"/>
              </a:solidFill>
            </a:endParaRPr>
          </a:p>
          <a:p>
            <a:pPr lvl="1"/>
            <a:r>
              <a:rPr lang="en-IN" sz="2400" b="1" dirty="0" err="1">
                <a:solidFill>
                  <a:srgbClr val="0070C0"/>
                </a:solidFill>
              </a:rPr>
              <a:t>chipo.item_price.dtype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Chipotle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F60CD2-00EE-49B3-A2E9-570F32148C4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118740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8002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What was the total revenue for the period of the dataset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How many orders were made in the period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 lvl="1"/>
            <a:r>
              <a:rPr lang="en-IN" sz="2400" b="1" dirty="0">
                <a:solidFill>
                  <a:srgbClr val="0070C0"/>
                </a:solidFill>
              </a:rPr>
              <a:t>revenue = (</a:t>
            </a:r>
            <a:r>
              <a:rPr lang="en-IN" sz="2400" b="1" dirty="0" err="1">
                <a:solidFill>
                  <a:srgbClr val="0070C0"/>
                </a:solidFill>
              </a:rPr>
              <a:t>chipo</a:t>
            </a:r>
            <a:r>
              <a:rPr lang="en-IN" sz="2400" b="1" dirty="0">
                <a:solidFill>
                  <a:srgbClr val="0070C0"/>
                </a:solidFill>
              </a:rPr>
              <a:t>['quantity']* </a:t>
            </a:r>
            <a:r>
              <a:rPr lang="en-IN" sz="2400" b="1" dirty="0" err="1">
                <a:solidFill>
                  <a:srgbClr val="0070C0"/>
                </a:solidFill>
              </a:rPr>
              <a:t>chipo</a:t>
            </a:r>
            <a:r>
              <a:rPr lang="en-IN" sz="2400" b="1" dirty="0">
                <a:solidFill>
                  <a:srgbClr val="0070C0"/>
                </a:solidFill>
              </a:rPr>
              <a:t>['</a:t>
            </a:r>
            <a:r>
              <a:rPr lang="en-IN" sz="2400" b="1" dirty="0" err="1">
                <a:solidFill>
                  <a:srgbClr val="0070C0"/>
                </a:solidFill>
              </a:rPr>
              <a:t>item_price</a:t>
            </a:r>
            <a:r>
              <a:rPr lang="en-IN" sz="2400" b="1" dirty="0">
                <a:solidFill>
                  <a:srgbClr val="0070C0"/>
                </a:solidFill>
              </a:rPr>
              <a:t>']).sum()</a:t>
            </a:r>
          </a:p>
          <a:p>
            <a:pPr lvl="1"/>
            <a:endParaRPr lang="en-IN" sz="2400" b="1" dirty="0">
              <a:solidFill>
                <a:srgbClr val="0070C0"/>
              </a:solidFill>
            </a:endParaRPr>
          </a:p>
          <a:p>
            <a:pPr lvl="1"/>
            <a:r>
              <a:rPr lang="en-IN" sz="2400" b="1" dirty="0">
                <a:solidFill>
                  <a:srgbClr val="0070C0"/>
                </a:solidFill>
              </a:rPr>
              <a:t>print('Revenue was: $' + </a:t>
            </a:r>
            <a:r>
              <a:rPr lang="en-IN" sz="2400" b="1" dirty="0" err="1">
                <a:solidFill>
                  <a:srgbClr val="0070C0"/>
                </a:solidFill>
              </a:rPr>
              <a:t>str</a:t>
            </a:r>
            <a:r>
              <a:rPr lang="en-IN" sz="2400" b="1" dirty="0">
                <a:solidFill>
                  <a:srgbClr val="0070C0"/>
                </a:solidFill>
              </a:rPr>
              <a:t>(</a:t>
            </a:r>
            <a:r>
              <a:rPr lang="en-IN" sz="2400" b="1" dirty="0" err="1">
                <a:solidFill>
                  <a:srgbClr val="0070C0"/>
                </a:solidFill>
              </a:rPr>
              <a:t>np.round</a:t>
            </a:r>
            <a:r>
              <a:rPr lang="en-IN" sz="2400" b="1" dirty="0">
                <a:solidFill>
                  <a:srgbClr val="0070C0"/>
                </a:solidFill>
              </a:rPr>
              <a:t>(revenue,2)))</a:t>
            </a:r>
          </a:p>
          <a:p>
            <a:pPr lvl="1"/>
            <a:endParaRPr lang="en-IN" sz="2400" b="1" dirty="0">
              <a:solidFill>
                <a:srgbClr val="0070C0"/>
              </a:solidFill>
            </a:endParaRPr>
          </a:p>
          <a:p>
            <a:pPr lvl="1"/>
            <a:endParaRPr lang="en-IN" sz="2400" b="1" dirty="0">
              <a:solidFill>
                <a:srgbClr val="0070C0"/>
              </a:solidFill>
            </a:endParaRPr>
          </a:p>
          <a:p>
            <a:pPr lvl="1"/>
            <a:r>
              <a:rPr lang="en-IN" sz="2400" b="1" dirty="0">
                <a:solidFill>
                  <a:srgbClr val="0070C0"/>
                </a:solidFill>
              </a:rPr>
              <a:t>orders = </a:t>
            </a:r>
            <a:r>
              <a:rPr lang="en-IN" sz="2400" b="1" dirty="0" err="1">
                <a:solidFill>
                  <a:srgbClr val="0070C0"/>
                </a:solidFill>
              </a:rPr>
              <a:t>chipo.order_id.value_counts</a:t>
            </a:r>
            <a:r>
              <a:rPr lang="en-IN" sz="2400" b="1" dirty="0">
                <a:solidFill>
                  <a:srgbClr val="0070C0"/>
                </a:solidFill>
              </a:rPr>
              <a:t>().count()</a:t>
            </a:r>
          </a:p>
          <a:p>
            <a:pPr lvl="1"/>
            <a:r>
              <a:rPr lang="en-IN" sz="2400" b="1" dirty="0">
                <a:solidFill>
                  <a:srgbClr val="0070C0"/>
                </a:solidFill>
              </a:rPr>
              <a:t>orders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Chipotle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96D897-27ED-41DB-ABDD-A8BBF50D38E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741283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34609"/>
            <a:ext cx="8852824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What was the average revenue per order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How many different items are sold ( or on the menu)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chipo</a:t>
            </a:r>
            <a:r>
              <a:rPr lang="en-US" sz="2400" b="1" dirty="0">
                <a:solidFill>
                  <a:srgbClr val="0070C0"/>
                </a:solidFill>
              </a:rPr>
              <a:t>['revenue'] = </a:t>
            </a:r>
            <a:r>
              <a:rPr lang="en-US" sz="2400" b="1" dirty="0" err="1">
                <a:solidFill>
                  <a:srgbClr val="0070C0"/>
                </a:solidFill>
              </a:rPr>
              <a:t>chipo</a:t>
            </a:r>
            <a:r>
              <a:rPr lang="en-US" sz="2400" b="1" dirty="0">
                <a:solidFill>
                  <a:srgbClr val="0070C0"/>
                </a:solidFill>
              </a:rPr>
              <a:t>['quantity'] * </a:t>
            </a:r>
            <a:r>
              <a:rPr lang="en-US" sz="2400" b="1" dirty="0" err="1">
                <a:solidFill>
                  <a:srgbClr val="0070C0"/>
                </a:solidFill>
              </a:rPr>
              <a:t>chipo</a:t>
            </a:r>
            <a:r>
              <a:rPr lang="en-US" sz="2400" b="1" dirty="0">
                <a:solidFill>
                  <a:srgbClr val="0070C0"/>
                </a:solidFill>
              </a:rPr>
              <a:t>['</a:t>
            </a:r>
            <a:r>
              <a:rPr lang="en-US" sz="2400" b="1" dirty="0" err="1">
                <a:solidFill>
                  <a:srgbClr val="0070C0"/>
                </a:solidFill>
              </a:rPr>
              <a:t>item_price</a:t>
            </a:r>
            <a:r>
              <a:rPr lang="en-US" sz="2400" b="1" dirty="0">
                <a:solidFill>
                  <a:srgbClr val="0070C0"/>
                </a:solidFill>
              </a:rPr>
              <a:t>']</a:t>
            </a: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order_grouped</a:t>
            </a:r>
            <a:r>
              <a:rPr lang="en-US" sz="2400" b="1" dirty="0">
                <a:solidFill>
                  <a:srgbClr val="0070C0"/>
                </a:solidFill>
              </a:rPr>
              <a:t> = </a:t>
            </a:r>
            <a:r>
              <a:rPr lang="en-US" sz="2400" b="1" dirty="0" err="1">
                <a:solidFill>
                  <a:srgbClr val="0070C0"/>
                </a:solidFill>
              </a:rPr>
              <a:t>chipo.groupby</a:t>
            </a:r>
            <a:r>
              <a:rPr lang="en-US" sz="2400" b="1" dirty="0">
                <a:solidFill>
                  <a:srgbClr val="0070C0"/>
                </a:solidFill>
              </a:rPr>
              <a:t>(by=['</a:t>
            </a:r>
            <a:r>
              <a:rPr lang="en-US" sz="2400" b="1" dirty="0" err="1">
                <a:solidFill>
                  <a:srgbClr val="0070C0"/>
                </a:solidFill>
              </a:rPr>
              <a:t>order_id</a:t>
            </a:r>
            <a:r>
              <a:rPr lang="en-US" sz="2400" b="1" dirty="0">
                <a:solidFill>
                  <a:srgbClr val="0070C0"/>
                </a:solidFill>
              </a:rPr>
              <a:t>']).sum()</a:t>
            </a: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order_grouped.mean</a:t>
            </a:r>
            <a:r>
              <a:rPr lang="en-US" sz="2400" b="1" dirty="0">
                <a:solidFill>
                  <a:srgbClr val="0070C0"/>
                </a:solidFill>
              </a:rPr>
              <a:t>()['revenue']</a:t>
            </a: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chipo.groupby</a:t>
            </a:r>
            <a:r>
              <a:rPr lang="en-US" sz="2400" b="1" dirty="0">
                <a:solidFill>
                  <a:srgbClr val="0070C0"/>
                </a:solidFill>
              </a:rPr>
              <a:t>(by=['</a:t>
            </a:r>
            <a:r>
              <a:rPr lang="en-US" sz="2400" b="1" dirty="0" err="1">
                <a:solidFill>
                  <a:srgbClr val="0070C0"/>
                </a:solidFill>
              </a:rPr>
              <a:t>order_id</a:t>
            </a:r>
            <a:r>
              <a:rPr lang="en-US" sz="2400" b="1" dirty="0">
                <a:solidFill>
                  <a:srgbClr val="0070C0"/>
                </a:solidFill>
              </a:rPr>
              <a:t>']).sum().mean()['revenue']</a:t>
            </a: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chipo.item_name.value_counts</a:t>
            </a:r>
            <a:r>
              <a:rPr lang="en-US" sz="2400" b="1" dirty="0">
                <a:solidFill>
                  <a:srgbClr val="0070C0"/>
                </a:solidFill>
              </a:rPr>
              <a:t>().count()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Chipotle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723FDC-576C-454E-9D8D-D4C87BE96A1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033094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66675"/>
            <a:ext cx="8852824" cy="695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8793" y="1463477"/>
            <a:ext cx="99627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Upload the data file, view the data file in </a:t>
            </a:r>
            <a:r>
              <a:rPr lang="en-US" sz="2400" b="1" dirty="0" err="1">
                <a:solidFill>
                  <a:srgbClr val="0070C0"/>
                </a:solidFill>
              </a:rPr>
              <a:t>Colab</a:t>
            </a:r>
            <a:endParaRPr lang="en-US" sz="2400" b="1" dirty="0">
              <a:solidFill>
                <a:srgbClr val="0070C0"/>
              </a:solidFill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Read and Assign it to a variable called users and use the '</a:t>
            </a:r>
            <a:r>
              <a:rPr lang="en-US" sz="2400" b="1" dirty="0" err="1">
                <a:solidFill>
                  <a:srgbClr val="0070C0"/>
                </a:solidFill>
              </a:rPr>
              <a:t>user_id</a:t>
            </a:r>
            <a:r>
              <a:rPr lang="en-US" sz="2400" b="1" dirty="0">
                <a:solidFill>
                  <a:srgbClr val="0070C0"/>
                </a:solidFill>
              </a:rPr>
              <a:t>' as index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See the first 25 entries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See the last 10 entries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What is the number of observations in the dataset?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What is the number of columns in the dataset?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Print the name of all the columns.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How is the dataset indexed?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What is the data type of each column?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Print only the occupation column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How many different occupations are in this dataset?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What is the most frequent occupation?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Occupation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17C4A5-5FFE-44A9-9BEE-2C83B1E8503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111014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8002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8792" y="1463477"/>
            <a:ext cx="103968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13"/>
              <a:defRPr/>
            </a:pPr>
            <a:r>
              <a:rPr lang="en-US" sz="2400" b="1" dirty="0">
                <a:solidFill>
                  <a:srgbClr val="0070C0"/>
                </a:solidFill>
              </a:rPr>
              <a:t>Summarize the </a:t>
            </a:r>
            <a:r>
              <a:rPr lang="en-US" sz="2400" b="1" dirty="0" err="1">
                <a:solidFill>
                  <a:srgbClr val="0070C0"/>
                </a:solidFill>
              </a:rPr>
              <a:t>DataFrame</a:t>
            </a:r>
            <a:r>
              <a:rPr lang="en-US" sz="2400" b="1" dirty="0">
                <a:solidFill>
                  <a:srgbClr val="0070C0"/>
                </a:solidFill>
              </a:rPr>
              <a:t>.</a:t>
            </a:r>
          </a:p>
          <a:p>
            <a:pPr marL="457200" indent="-457200">
              <a:buFont typeface="+mj-lt"/>
              <a:buAutoNum type="arabicPeriod" startAt="13"/>
              <a:defRPr/>
            </a:pPr>
            <a:r>
              <a:rPr lang="en-US" sz="2400" b="1" dirty="0">
                <a:solidFill>
                  <a:srgbClr val="0070C0"/>
                </a:solidFill>
              </a:rPr>
              <a:t>Summarize all the columns.</a:t>
            </a:r>
          </a:p>
          <a:p>
            <a:pPr marL="457200" indent="-457200">
              <a:buFont typeface="+mj-lt"/>
              <a:buAutoNum type="arabicPeriod" startAt="13"/>
              <a:defRPr/>
            </a:pPr>
            <a:r>
              <a:rPr lang="en-US" sz="2400" b="1" dirty="0">
                <a:solidFill>
                  <a:srgbClr val="0070C0"/>
                </a:solidFill>
              </a:rPr>
              <a:t>Summarize only the occupation column?</a:t>
            </a:r>
          </a:p>
          <a:p>
            <a:pPr marL="457200" indent="-457200">
              <a:buFont typeface="+mj-lt"/>
              <a:buAutoNum type="arabicPeriod" startAt="13"/>
              <a:defRPr/>
            </a:pPr>
            <a:r>
              <a:rPr lang="en-US" sz="2400" b="1" dirty="0">
                <a:solidFill>
                  <a:srgbClr val="0070C0"/>
                </a:solidFill>
              </a:rPr>
              <a:t>What is the mean age of users?</a:t>
            </a:r>
          </a:p>
          <a:p>
            <a:pPr marL="457200" indent="-457200">
              <a:buFont typeface="+mj-lt"/>
              <a:buAutoNum type="arabicPeriod" startAt="13"/>
              <a:defRPr/>
            </a:pPr>
            <a:r>
              <a:rPr lang="en-US" sz="2400" b="1" dirty="0">
                <a:solidFill>
                  <a:srgbClr val="0070C0"/>
                </a:solidFill>
              </a:rPr>
              <a:t>What is the age with least occurrence?</a:t>
            </a:r>
          </a:p>
          <a:p>
            <a:pPr marL="457200" indent="-457200">
              <a:buFont typeface="+mj-lt"/>
              <a:buAutoNum type="arabicPeriod" startAt="13"/>
              <a:defRPr/>
            </a:pPr>
            <a:r>
              <a:rPr lang="en-US" sz="2400" b="1" dirty="0">
                <a:solidFill>
                  <a:srgbClr val="0070C0"/>
                </a:solidFill>
              </a:rPr>
              <a:t>Discover what is the mean age per occupation</a:t>
            </a:r>
          </a:p>
          <a:p>
            <a:pPr marL="457200" indent="-457200">
              <a:buFont typeface="+mj-lt"/>
              <a:buAutoNum type="arabicPeriod" startAt="13"/>
              <a:defRPr/>
            </a:pPr>
            <a:r>
              <a:rPr lang="en-US" sz="2400" b="1" dirty="0">
                <a:solidFill>
                  <a:srgbClr val="0070C0"/>
                </a:solidFill>
              </a:rPr>
              <a:t>Discover the Male ratio per occupation and sort it from the most to the least</a:t>
            </a:r>
          </a:p>
          <a:p>
            <a:pPr marL="457200" indent="-457200">
              <a:buFont typeface="+mj-lt"/>
              <a:buAutoNum type="arabicPeriod" startAt="13"/>
              <a:defRPr/>
            </a:pPr>
            <a:r>
              <a:rPr lang="en-US" sz="2400" b="1" dirty="0">
                <a:solidFill>
                  <a:srgbClr val="0070C0"/>
                </a:solidFill>
              </a:rPr>
              <a:t>For each occupation, calculate the minimum and maximum ages</a:t>
            </a:r>
          </a:p>
          <a:p>
            <a:pPr marL="457200" indent="-457200">
              <a:buFont typeface="+mj-lt"/>
              <a:buAutoNum type="arabicPeriod" startAt="13"/>
              <a:defRPr/>
            </a:pPr>
            <a:r>
              <a:rPr lang="en-US" sz="2400" b="1" dirty="0">
                <a:solidFill>
                  <a:srgbClr val="0070C0"/>
                </a:solidFill>
              </a:rPr>
              <a:t>For each combination of occupation and gender, calculate the mean age</a:t>
            </a:r>
          </a:p>
          <a:p>
            <a:pPr marL="457200" indent="-457200">
              <a:buFont typeface="+mj-lt"/>
              <a:buAutoNum type="arabicPeriod" startAt="13"/>
              <a:defRPr/>
            </a:pPr>
            <a:r>
              <a:rPr lang="en-US" sz="2400" b="1" dirty="0">
                <a:solidFill>
                  <a:srgbClr val="0070C0"/>
                </a:solidFill>
              </a:rPr>
              <a:t>For each occupation present the percentage of women and 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Occupation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46C865-1A4C-4A96-B09F-AA11B149C79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689289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657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Upload the data file, view the data file in </a:t>
            </a:r>
            <a:r>
              <a:rPr lang="en-US" sz="2000" b="1" dirty="0" err="1">
                <a:solidFill>
                  <a:srgbClr val="0070C0"/>
                </a:solidFill>
              </a:rPr>
              <a:t>Colab</a:t>
            </a:r>
            <a:endParaRPr lang="en-US" sz="2000" b="1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Read and Assign it to a variable called users and use the '</a:t>
            </a:r>
            <a:r>
              <a:rPr lang="en-US" sz="2000" b="1" dirty="0" err="1">
                <a:solidFill>
                  <a:srgbClr val="0070C0"/>
                </a:solidFill>
              </a:rPr>
              <a:t>user_id</a:t>
            </a:r>
            <a:r>
              <a:rPr lang="en-US" sz="2000" b="1" dirty="0">
                <a:solidFill>
                  <a:srgbClr val="0070C0"/>
                </a:solidFill>
              </a:rPr>
              <a:t>' as index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See the first 25 entries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See the last 10 entries</a:t>
            </a: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import </a:t>
            </a:r>
            <a:r>
              <a:rPr lang="en-US" sz="2400" b="1" dirty="0" err="1">
                <a:solidFill>
                  <a:srgbClr val="0070C0"/>
                </a:solidFill>
              </a:rPr>
              <a:t>numpy</a:t>
            </a:r>
            <a:r>
              <a:rPr lang="en-US" sz="2400" b="1" dirty="0">
                <a:solidFill>
                  <a:srgbClr val="0070C0"/>
                </a:solidFill>
              </a:rPr>
              <a:t> as np</a:t>
            </a: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import pandas as </a:t>
            </a:r>
            <a:r>
              <a:rPr lang="en-US" sz="2400" b="1" dirty="0" err="1">
                <a:solidFill>
                  <a:srgbClr val="0070C0"/>
                </a:solidFill>
              </a:rPr>
              <a:t>pd</a:t>
            </a: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Users = </a:t>
            </a:r>
            <a:r>
              <a:rPr lang="en-US" sz="2400" b="1" dirty="0" err="1">
                <a:solidFill>
                  <a:srgbClr val="0070C0"/>
                </a:solidFill>
              </a:rPr>
              <a:t>pd.read_csv</a:t>
            </a:r>
            <a:r>
              <a:rPr lang="en-US" sz="2400" b="1" dirty="0">
                <a:solidFill>
                  <a:srgbClr val="0070C0"/>
                </a:solidFill>
              </a:rPr>
              <a:t>('Occupation.csv', </a:t>
            </a:r>
            <a:r>
              <a:rPr lang="en-US" sz="2400" b="1" dirty="0" err="1">
                <a:solidFill>
                  <a:srgbClr val="0070C0"/>
                </a:solidFill>
              </a:rPr>
              <a:t>sep</a:t>
            </a:r>
            <a:r>
              <a:rPr lang="en-US" sz="2400" b="1" dirty="0">
                <a:solidFill>
                  <a:srgbClr val="0070C0"/>
                </a:solidFill>
              </a:rPr>
              <a:t> ='\t')</a:t>
            </a: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users.head</a:t>
            </a:r>
            <a:r>
              <a:rPr lang="en-US" sz="2400" b="1" dirty="0">
                <a:solidFill>
                  <a:srgbClr val="0070C0"/>
                </a:solidFill>
              </a:rPr>
              <a:t>(25)</a:t>
            </a: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users.tail</a:t>
            </a:r>
            <a:r>
              <a:rPr lang="en-US" sz="2400" b="1" dirty="0">
                <a:solidFill>
                  <a:srgbClr val="0070C0"/>
                </a:solidFill>
              </a:rPr>
              <a:t>(10)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Occupation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9C6441-AABD-4FF7-B8E2-73321F257EB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81756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8002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What is the number of observations in the dataset?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What is the number of columns in the dataset?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Print the name of all the columns.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How is the dataset indexed?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users.shape</a:t>
            </a:r>
            <a:r>
              <a:rPr lang="en-US" sz="2400" b="1" dirty="0">
                <a:solidFill>
                  <a:srgbClr val="0070C0"/>
                </a:solidFill>
              </a:rPr>
              <a:t>[0]</a:t>
            </a: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users.shape</a:t>
            </a:r>
            <a:r>
              <a:rPr lang="en-US" sz="2400" b="1" dirty="0">
                <a:solidFill>
                  <a:srgbClr val="0070C0"/>
                </a:solidFill>
              </a:rPr>
              <a:t>[1]</a:t>
            </a: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users.columns</a:t>
            </a: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users.index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Occupation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48169D-66E6-4A14-988E-2F101458763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289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7048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What is the data type of each column?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Print only the occupation column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How many different occupations are in this dataset?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What is the most frequent occupation?</a:t>
            </a: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users.dtypes</a:t>
            </a: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users.occupation</a:t>
            </a: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users['occupation']</a:t>
            </a: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users.occupation.nunique</a:t>
            </a:r>
            <a:r>
              <a:rPr lang="en-US" sz="2400" b="1" dirty="0">
                <a:solidFill>
                  <a:srgbClr val="0070C0"/>
                </a:solidFill>
              </a:rPr>
              <a:t>()</a:t>
            </a: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# or</a:t>
            </a: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#</a:t>
            </a:r>
            <a:r>
              <a:rPr lang="en-US" sz="2400" b="1" dirty="0" err="1">
                <a:solidFill>
                  <a:srgbClr val="0070C0"/>
                </a:solidFill>
              </a:rPr>
              <a:t>users.occupation.value_counts</a:t>
            </a:r>
            <a:r>
              <a:rPr lang="en-US" sz="2400" b="1" dirty="0">
                <a:solidFill>
                  <a:srgbClr val="0070C0"/>
                </a:solidFill>
              </a:rPr>
              <a:t>().count()</a:t>
            </a: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users.occupation.value_counts</a:t>
            </a:r>
            <a:r>
              <a:rPr lang="en-US" sz="2400" b="1" dirty="0">
                <a:solidFill>
                  <a:srgbClr val="0070C0"/>
                </a:solidFill>
              </a:rPr>
              <a:t>().head(1).index[0]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Occupation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A89FE0-5B6A-4410-90D8-A00B8ACC37E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85186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8002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Summarize the </a:t>
            </a:r>
            <a:r>
              <a:rPr lang="en-US" sz="2000" b="1" dirty="0" err="1">
                <a:solidFill>
                  <a:srgbClr val="0070C0"/>
                </a:solidFill>
              </a:rPr>
              <a:t>DataFrame</a:t>
            </a:r>
            <a:r>
              <a:rPr lang="en-US" sz="2000" b="1" dirty="0">
                <a:solidFill>
                  <a:srgbClr val="0070C0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Summarize all the columns.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Summarize only the occupation column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What is the mean age of users?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What is the age with least occurrence?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users.describe</a:t>
            </a:r>
            <a:r>
              <a:rPr lang="en-US" sz="2400" b="1" dirty="0">
                <a:solidFill>
                  <a:srgbClr val="0070C0"/>
                </a:solidFill>
              </a:rPr>
              <a:t>()</a:t>
            </a: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users.describe</a:t>
            </a:r>
            <a:r>
              <a:rPr lang="en-US" sz="2400" b="1" dirty="0">
                <a:solidFill>
                  <a:srgbClr val="0070C0"/>
                </a:solidFill>
              </a:rPr>
              <a:t>(include = "all")</a:t>
            </a: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users.occupation.describe</a:t>
            </a:r>
            <a:r>
              <a:rPr lang="en-US" sz="2400" b="1" dirty="0">
                <a:solidFill>
                  <a:srgbClr val="0070C0"/>
                </a:solidFill>
              </a:rPr>
              <a:t>()</a:t>
            </a: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round(</a:t>
            </a:r>
            <a:r>
              <a:rPr lang="en-US" sz="2400" b="1" dirty="0" err="1">
                <a:solidFill>
                  <a:srgbClr val="0070C0"/>
                </a:solidFill>
              </a:rPr>
              <a:t>users.age.mean</a:t>
            </a:r>
            <a:r>
              <a:rPr lang="en-US" sz="2400" b="1" dirty="0">
                <a:solidFill>
                  <a:srgbClr val="0070C0"/>
                </a:solidFill>
              </a:rPr>
              <a:t>())</a:t>
            </a: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users.age.value_counts</a:t>
            </a:r>
            <a:r>
              <a:rPr lang="en-US" sz="2400" b="1" dirty="0">
                <a:solidFill>
                  <a:srgbClr val="0070C0"/>
                </a:solidFill>
              </a:rPr>
              <a:t>().tail()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Occupation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B54527-F43E-42C7-B313-CC8278E58C4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672070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600450" y="0"/>
            <a:ext cx="8591549" cy="723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Discover what is the mean age per occupation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Discover the Male ratio per occupation and sort it from the most to the least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users.groupby</a:t>
            </a:r>
            <a:r>
              <a:rPr lang="en-US" sz="2400" b="1" dirty="0">
                <a:solidFill>
                  <a:srgbClr val="0070C0"/>
                </a:solidFill>
              </a:rPr>
              <a:t>('occupation').</a:t>
            </a:r>
            <a:r>
              <a:rPr lang="en-US" sz="2400" b="1" dirty="0" err="1">
                <a:solidFill>
                  <a:srgbClr val="0070C0"/>
                </a:solidFill>
              </a:rPr>
              <a:t>age.mean</a:t>
            </a:r>
            <a:r>
              <a:rPr lang="en-US" sz="2400" b="1" dirty="0">
                <a:solidFill>
                  <a:srgbClr val="0070C0"/>
                </a:solidFill>
              </a:rPr>
              <a:t>()</a:t>
            </a: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# create a function</a:t>
            </a: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def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err="1">
                <a:solidFill>
                  <a:srgbClr val="0070C0"/>
                </a:solidFill>
              </a:rPr>
              <a:t>gender_to_numeric</a:t>
            </a:r>
            <a:r>
              <a:rPr lang="en-US" sz="2400" b="1" dirty="0">
                <a:solidFill>
                  <a:srgbClr val="0070C0"/>
                </a:solidFill>
              </a:rPr>
              <a:t>(x):</a:t>
            </a: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    if x == 'M':</a:t>
            </a: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        return 1</a:t>
            </a: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    if x == 'F':</a:t>
            </a: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        return 0</a:t>
            </a: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Occupation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DE40BA-DDDB-48EA-808F-30C0143CB6F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15281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486150" y="0"/>
            <a:ext cx="8705849" cy="8002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Discover what is the mean age per occupation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Discover the Male ratio per occupation and sort it from the most to the least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70C0"/>
                </a:solidFill>
              </a:rPr>
              <a:t>Continued ………</a:t>
            </a: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# apply the function to the gender column and create a new column</a:t>
            </a: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users['</a:t>
            </a:r>
            <a:r>
              <a:rPr lang="en-US" sz="2400" b="1" dirty="0" err="1">
                <a:solidFill>
                  <a:srgbClr val="0070C0"/>
                </a:solidFill>
              </a:rPr>
              <a:t>gender_n</a:t>
            </a:r>
            <a:r>
              <a:rPr lang="en-US" sz="2400" b="1" dirty="0">
                <a:solidFill>
                  <a:srgbClr val="0070C0"/>
                </a:solidFill>
              </a:rPr>
              <a:t>'] = users['gender'].apply(</a:t>
            </a:r>
            <a:r>
              <a:rPr lang="en-US" sz="2400" b="1" dirty="0" err="1">
                <a:solidFill>
                  <a:srgbClr val="0070C0"/>
                </a:solidFill>
              </a:rPr>
              <a:t>gender_to_numeric</a:t>
            </a:r>
            <a:r>
              <a:rPr lang="en-US" sz="2400" b="1" dirty="0">
                <a:solidFill>
                  <a:srgbClr val="0070C0"/>
                </a:solidFill>
              </a:rPr>
              <a:t>)</a:t>
            </a: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a = </a:t>
            </a:r>
            <a:r>
              <a:rPr lang="en-US" sz="2400" b="1" dirty="0" err="1">
                <a:solidFill>
                  <a:srgbClr val="0070C0"/>
                </a:solidFill>
              </a:rPr>
              <a:t>users.groupby</a:t>
            </a:r>
            <a:r>
              <a:rPr lang="en-US" sz="2400" b="1" dirty="0">
                <a:solidFill>
                  <a:srgbClr val="0070C0"/>
                </a:solidFill>
              </a:rPr>
              <a:t>('occupation').</a:t>
            </a:r>
            <a:r>
              <a:rPr lang="en-US" sz="2400" b="1" dirty="0" err="1">
                <a:solidFill>
                  <a:srgbClr val="0070C0"/>
                </a:solidFill>
              </a:rPr>
              <a:t>gender_n.sum</a:t>
            </a:r>
            <a:r>
              <a:rPr lang="en-US" sz="2400" b="1" dirty="0">
                <a:solidFill>
                  <a:srgbClr val="0070C0"/>
                </a:solidFill>
              </a:rPr>
              <a:t>() / </a:t>
            </a:r>
            <a:r>
              <a:rPr lang="en-US" sz="2400" b="1" dirty="0" err="1">
                <a:solidFill>
                  <a:srgbClr val="0070C0"/>
                </a:solidFill>
              </a:rPr>
              <a:t>users.occupation.value_counts</a:t>
            </a:r>
            <a:r>
              <a:rPr lang="en-US" sz="2400" b="1" dirty="0">
                <a:solidFill>
                  <a:srgbClr val="0070C0"/>
                </a:solidFill>
              </a:rPr>
              <a:t>() * 100 </a:t>
            </a: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# sort to the most male </a:t>
            </a: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a.sort_values</a:t>
            </a:r>
            <a:r>
              <a:rPr lang="en-US" sz="2400" b="1" dirty="0">
                <a:solidFill>
                  <a:srgbClr val="0070C0"/>
                </a:solidFill>
              </a:rPr>
              <a:t>(ascending = False)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Occupation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9810D8-4429-4F97-972D-32D393C9213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97533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9042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For each occupation, calculate the minimum and maximum ages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For each combination of occupation and gender, calculate the mean age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users.groupby</a:t>
            </a:r>
            <a:r>
              <a:rPr lang="en-US" sz="2400" b="1" dirty="0">
                <a:solidFill>
                  <a:srgbClr val="0070C0"/>
                </a:solidFill>
              </a:rPr>
              <a:t>('occupation').</a:t>
            </a:r>
            <a:r>
              <a:rPr lang="en-US" sz="2400" b="1" dirty="0" err="1">
                <a:solidFill>
                  <a:srgbClr val="0070C0"/>
                </a:solidFill>
              </a:rPr>
              <a:t>age.agg</a:t>
            </a:r>
            <a:r>
              <a:rPr lang="en-US" sz="2400" b="1" dirty="0">
                <a:solidFill>
                  <a:srgbClr val="0070C0"/>
                </a:solidFill>
              </a:rPr>
              <a:t>(['min', 'max'])</a:t>
            </a: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users.groupby</a:t>
            </a:r>
            <a:r>
              <a:rPr lang="en-US" sz="2400" b="1" dirty="0">
                <a:solidFill>
                  <a:srgbClr val="0070C0"/>
                </a:solidFill>
              </a:rPr>
              <a:t>(['occupation', 'gender']).</a:t>
            </a:r>
            <a:r>
              <a:rPr lang="en-US" sz="2400" b="1" dirty="0" err="1">
                <a:solidFill>
                  <a:srgbClr val="0070C0"/>
                </a:solidFill>
              </a:rPr>
              <a:t>age.mean</a:t>
            </a:r>
            <a:r>
              <a:rPr lang="en-US" sz="2400" b="1" dirty="0">
                <a:solidFill>
                  <a:srgbClr val="0070C0"/>
                </a:solidFill>
              </a:rPr>
              <a:t>()</a:t>
            </a: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Occupation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9EF0A9-B029-44FB-8C8B-6ABA4656DA1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49565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99580" y="0"/>
            <a:ext cx="8792419" cy="8002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297624"/>
            <a:ext cx="996275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For each occupation present the percentage of women and men</a:t>
            </a: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# create a data frame and apply count to gender</a:t>
            </a: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gender_ocup</a:t>
            </a:r>
            <a:r>
              <a:rPr lang="en-US" sz="2400" b="1" dirty="0">
                <a:solidFill>
                  <a:srgbClr val="0070C0"/>
                </a:solidFill>
              </a:rPr>
              <a:t> = </a:t>
            </a:r>
            <a:r>
              <a:rPr lang="en-US" sz="2400" b="1" dirty="0" err="1">
                <a:solidFill>
                  <a:srgbClr val="0070C0"/>
                </a:solidFill>
              </a:rPr>
              <a:t>users.groupby</a:t>
            </a:r>
            <a:r>
              <a:rPr lang="en-US" sz="2400" b="1" dirty="0">
                <a:solidFill>
                  <a:srgbClr val="0070C0"/>
                </a:solidFill>
              </a:rPr>
              <a:t>(['occupation', 'gender']).</a:t>
            </a:r>
            <a:r>
              <a:rPr lang="en-US" sz="2400" b="1" dirty="0" err="1">
                <a:solidFill>
                  <a:srgbClr val="0070C0"/>
                </a:solidFill>
              </a:rPr>
              <a:t>agg</a:t>
            </a:r>
            <a:r>
              <a:rPr lang="en-US" sz="2400" b="1" dirty="0">
                <a:solidFill>
                  <a:srgbClr val="0070C0"/>
                </a:solidFill>
              </a:rPr>
              <a:t>({'gender': 'count'})</a:t>
            </a: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# create a </a:t>
            </a:r>
            <a:r>
              <a:rPr lang="en-US" sz="2400" b="1" dirty="0" err="1">
                <a:solidFill>
                  <a:srgbClr val="0070C0"/>
                </a:solidFill>
              </a:rPr>
              <a:t>DataFrame</a:t>
            </a:r>
            <a:r>
              <a:rPr lang="en-US" sz="2400" b="1" dirty="0">
                <a:solidFill>
                  <a:srgbClr val="0070C0"/>
                </a:solidFill>
              </a:rPr>
              <a:t> and apply count for each occupation</a:t>
            </a: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occup_count</a:t>
            </a:r>
            <a:r>
              <a:rPr lang="en-US" sz="2400" b="1" dirty="0">
                <a:solidFill>
                  <a:srgbClr val="0070C0"/>
                </a:solidFill>
              </a:rPr>
              <a:t> = </a:t>
            </a:r>
            <a:r>
              <a:rPr lang="en-US" sz="2400" b="1" dirty="0" err="1">
                <a:solidFill>
                  <a:srgbClr val="0070C0"/>
                </a:solidFill>
              </a:rPr>
              <a:t>users.groupby</a:t>
            </a:r>
            <a:r>
              <a:rPr lang="en-US" sz="2400" b="1" dirty="0">
                <a:solidFill>
                  <a:srgbClr val="0070C0"/>
                </a:solidFill>
              </a:rPr>
              <a:t>(['occupation']).</a:t>
            </a:r>
            <a:r>
              <a:rPr lang="en-US" sz="2400" b="1" dirty="0" err="1">
                <a:solidFill>
                  <a:srgbClr val="0070C0"/>
                </a:solidFill>
              </a:rPr>
              <a:t>agg</a:t>
            </a:r>
            <a:r>
              <a:rPr lang="en-US" sz="2400" b="1" dirty="0">
                <a:solidFill>
                  <a:srgbClr val="0070C0"/>
                </a:solidFill>
              </a:rPr>
              <a:t>('count')</a:t>
            </a: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# divide the </a:t>
            </a:r>
            <a:r>
              <a:rPr lang="en-US" sz="2400" b="1" dirty="0" err="1">
                <a:solidFill>
                  <a:srgbClr val="0070C0"/>
                </a:solidFill>
              </a:rPr>
              <a:t>gender_ocup</a:t>
            </a:r>
            <a:r>
              <a:rPr lang="en-US" sz="2400" b="1" dirty="0">
                <a:solidFill>
                  <a:srgbClr val="0070C0"/>
                </a:solidFill>
              </a:rPr>
              <a:t> per the </a:t>
            </a:r>
            <a:r>
              <a:rPr lang="en-US" sz="2400" b="1" dirty="0" err="1">
                <a:solidFill>
                  <a:srgbClr val="0070C0"/>
                </a:solidFill>
              </a:rPr>
              <a:t>occup_count</a:t>
            </a:r>
            <a:r>
              <a:rPr lang="en-US" sz="2400" b="1" dirty="0">
                <a:solidFill>
                  <a:srgbClr val="0070C0"/>
                </a:solidFill>
              </a:rPr>
              <a:t> and multiply per 100</a:t>
            </a: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occup_gender</a:t>
            </a:r>
            <a:r>
              <a:rPr lang="en-US" sz="2400" b="1" dirty="0">
                <a:solidFill>
                  <a:srgbClr val="0070C0"/>
                </a:solidFill>
              </a:rPr>
              <a:t> = </a:t>
            </a:r>
            <a:r>
              <a:rPr lang="en-US" sz="2400" b="1" dirty="0" err="1">
                <a:solidFill>
                  <a:srgbClr val="0070C0"/>
                </a:solidFill>
              </a:rPr>
              <a:t>gender_ocup.div</a:t>
            </a:r>
            <a:r>
              <a:rPr lang="en-US" sz="2400" b="1" dirty="0">
                <a:solidFill>
                  <a:srgbClr val="0070C0"/>
                </a:solidFill>
              </a:rPr>
              <a:t>(</a:t>
            </a:r>
            <a:r>
              <a:rPr lang="en-US" sz="2400" b="1" dirty="0" err="1">
                <a:solidFill>
                  <a:srgbClr val="0070C0"/>
                </a:solidFill>
              </a:rPr>
              <a:t>occup_count</a:t>
            </a:r>
            <a:r>
              <a:rPr lang="en-US" sz="2400" b="1" dirty="0">
                <a:solidFill>
                  <a:srgbClr val="0070C0"/>
                </a:solidFill>
              </a:rPr>
              <a:t>, level = "occupation") * 100</a:t>
            </a: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# present all rows from the 'gender column'</a:t>
            </a: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occup_gender.loc</a:t>
            </a:r>
            <a:r>
              <a:rPr lang="en-US" sz="2400" b="1" dirty="0">
                <a:solidFill>
                  <a:srgbClr val="0070C0"/>
                </a:solidFill>
              </a:rPr>
              <a:t>[: , 'gender']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Occupation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94A3D4-3290-44B1-8446-B89364AB546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731062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9042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8793" y="1463477"/>
            <a:ext cx="99627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Upload the data file, view the data file in </a:t>
            </a:r>
            <a:r>
              <a:rPr lang="en-US" sz="2400" b="1" dirty="0" err="1">
                <a:solidFill>
                  <a:srgbClr val="0070C0"/>
                </a:solidFill>
              </a:rPr>
              <a:t>Colab</a:t>
            </a:r>
            <a:endParaRPr lang="en-US" sz="2400" b="1" dirty="0">
              <a:solidFill>
                <a:srgbClr val="0070C0"/>
              </a:solidFill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Read and Assign it to a variable called users and use the '</a:t>
            </a:r>
            <a:r>
              <a:rPr lang="en-US" sz="2400" b="1" dirty="0" err="1">
                <a:solidFill>
                  <a:srgbClr val="0070C0"/>
                </a:solidFill>
              </a:rPr>
              <a:t>user_id</a:t>
            </a:r>
            <a:r>
              <a:rPr lang="en-US" sz="2400" b="1" dirty="0">
                <a:solidFill>
                  <a:srgbClr val="0070C0"/>
                </a:solidFill>
              </a:rPr>
              <a:t>' as index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Which continent drinks more beer on average?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For each continent print the statistics for wine consumption.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Print the mean alcohol consumption per continent for every column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Print the median alcohol consumption per continent for every column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Print the mean, min and max values for spirit consumption.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Part A:  Alcohol Consumption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2F67E8-3248-492D-A21C-329EB732BAB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04563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686175" y="0"/>
            <a:ext cx="8505824" cy="9042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4279" y="1619888"/>
            <a:ext cx="99627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Upload new data file ‘student-mat’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For the purpose of this exercise slice the </a:t>
            </a:r>
            <a:r>
              <a:rPr lang="en-US" sz="2400" b="1" dirty="0" err="1">
                <a:solidFill>
                  <a:srgbClr val="0070C0"/>
                </a:solidFill>
              </a:rPr>
              <a:t>dataframe</a:t>
            </a:r>
            <a:r>
              <a:rPr lang="en-US" sz="2400" b="1" dirty="0">
                <a:solidFill>
                  <a:srgbClr val="0070C0"/>
                </a:solidFill>
              </a:rPr>
              <a:t> from 'school' until the 'guardian' column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Create a lambda function that will capitalize strings.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Capitalize both </a:t>
            </a:r>
            <a:r>
              <a:rPr lang="en-US" sz="2400" b="1" dirty="0" err="1">
                <a:solidFill>
                  <a:srgbClr val="0070C0"/>
                </a:solidFill>
              </a:rPr>
              <a:t>Mjob</a:t>
            </a:r>
            <a:r>
              <a:rPr lang="en-US" sz="2400" b="1" dirty="0">
                <a:solidFill>
                  <a:srgbClr val="0070C0"/>
                </a:solidFill>
              </a:rPr>
              <a:t> and </a:t>
            </a:r>
            <a:r>
              <a:rPr lang="en-US" sz="2400" b="1" dirty="0" err="1">
                <a:solidFill>
                  <a:srgbClr val="0070C0"/>
                </a:solidFill>
              </a:rPr>
              <a:t>Fjob</a:t>
            </a:r>
            <a:endParaRPr lang="en-US" sz="2400" b="1" dirty="0">
              <a:solidFill>
                <a:srgbClr val="0070C0"/>
              </a:solidFill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Print the last elements of the data set.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Create a function called majority that returns a </a:t>
            </a:r>
            <a:r>
              <a:rPr lang="en-US" sz="2400" b="1" dirty="0" err="1">
                <a:solidFill>
                  <a:srgbClr val="0070C0"/>
                </a:solidFill>
              </a:rPr>
              <a:t>boolean</a:t>
            </a:r>
            <a:r>
              <a:rPr lang="en-US" sz="2400" b="1" dirty="0">
                <a:solidFill>
                  <a:srgbClr val="0070C0"/>
                </a:solidFill>
              </a:rPr>
              <a:t> value to a new column called </a:t>
            </a:r>
            <a:r>
              <a:rPr lang="en-US" sz="2400" b="1" dirty="0" err="1">
                <a:solidFill>
                  <a:srgbClr val="0070C0"/>
                </a:solidFill>
              </a:rPr>
              <a:t>legal_drinker</a:t>
            </a:r>
            <a:r>
              <a:rPr lang="en-US" sz="2400" b="1" dirty="0">
                <a:solidFill>
                  <a:srgbClr val="0070C0"/>
                </a:solidFill>
              </a:rPr>
              <a:t> (Consider majority as older than 17 years old)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srgbClr val="0070C0"/>
                </a:solidFill>
              </a:rPr>
              <a:t>Multiply every number of the dataset by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Part B :  Student Alcohol Consumption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CE9C29-13CE-403A-AC1E-1FFBF817C2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79539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223761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457575" y="0"/>
            <a:ext cx="8734424" cy="9042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Upload the data file, view the data file in </a:t>
            </a:r>
            <a:r>
              <a:rPr lang="en-US" sz="2000" b="1" dirty="0" err="1">
                <a:solidFill>
                  <a:srgbClr val="0070C0"/>
                </a:solidFill>
              </a:rPr>
              <a:t>Colab</a:t>
            </a:r>
            <a:endParaRPr lang="en-US" sz="2000" b="1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Read and Assign it to a variable called users and use the '</a:t>
            </a:r>
            <a:r>
              <a:rPr lang="en-US" sz="2000" b="1" dirty="0" err="1">
                <a:solidFill>
                  <a:srgbClr val="0070C0"/>
                </a:solidFill>
              </a:rPr>
              <a:t>user_id</a:t>
            </a:r>
            <a:r>
              <a:rPr lang="en-US" sz="2000" b="1" dirty="0">
                <a:solidFill>
                  <a:srgbClr val="0070C0"/>
                </a:solidFill>
              </a:rPr>
              <a:t>' as index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import </a:t>
            </a:r>
            <a:r>
              <a:rPr lang="en-US" sz="2400" b="1" dirty="0" err="1">
                <a:solidFill>
                  <a:srgbClr val="0070C0"/>
                </a:solidFill>
              </a:rPr>
              <a:t>numpy</a:t>
            </a:r>
            <a:r>
              <a:rPr lang="en-US" sz="2400" b="1" dirty="0">
                <a:solidFill>
                  <a:srgbClr val="0070C0"/>
                </a:solidFill>
              </a:rPr>
              <a:t> as np</a:t>
            </a: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import pandas as </a:t>
            </a:r>
            <a:r>
              <a:rPr lang="en-US" sz="2400" b="1" dirty="0" err="1">
                <a:solidFill>
                  <a:srgbClr val="0070C0"/>
                </a:solidFill>
              </a:rPr>
              <a:t>pd</a:t>
            </a: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>
                <a:solidFill>
                  <a:srgbClr val="0070C0"/>
                </a:solidFill>
              </a:rPr>
              <a:t>drinks = </a:t>
            </a:r>
            <a:r>
              <a:rPr lang="en-US" sz="2400" b="1" dirty="0" err="1">
                <a:solidFill>
                  <a:srgbClr val="0070C0"/>
                </a:solidFill>
              </a:rPr>
              <a:t>pd.read_csv</a:t>
            </a:r>
            <a:r>
              <a:rPr lang="en-US" sz="2400" b="1" dirty="0">
                <a:solidFill>
                  <a:srgbClr val="0070C0"/>
                </a:solidFill>
              </a:rPr>
              <a:t>('drinks.csv‘, </a:t>
            </a:r>
            <a:r>
              <a:rPr lang="en-US" sz="2400" b="1" dirty="0" err="1">
                <a:solidFill>
                  <a:srgbClr val="0070C0"/>
                </a:solidFill>
              </a:rPr>
              <a:t>index_col</a:t>
            </a:r>
            <a:r>
              <a:rPr lang="en-US" sz="2400" b="1" dirty="0">
                <a:solidFill>
                  <a:srgbClr val="0070C0"/>
                </a:solidFill>
              </a:rPr>
              <a:t> = ‘</a:t>
            </a:r>
            <a:r>
              <a:rPr lang="en-US" sz="2400" b="1" dirty="0" err="1">
                <a:solidFill>
                  <a:srgbClr val="0070C0"/>
                </a:solidFill>
              </a:rPr>
              <a:t>user_id</a:t>
            </a:r>
            <a:r>
              <a:rPr lang="en-US" sz="2400" b="1" dirty="0">
                <a:solidFill>
                  <a:srgbClr val="0070C0"/>
                </a:solidFill>
              </a:rPr>
              <a:t>’)</a:t>
            </a: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drinks.head</a:t>
            </a:r>
            <a:r>
              <a:rPr lang="en-US" sz="2400" b="1" dirty="0">
                <a:solidFill>
                  <a:srgbClr val="0070C0"/>
                </a:solidFill>
              </a:rPr>
              <a:t>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Part A: Alcohol Consumption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12C080-05DC-4778-8303-9844D8BC6B6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777399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448050" y="0"/>
            <a:ext cx="8743949" cy="8002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Which continent drinks more beer on average?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For each continent print the statistics for wine consumption.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drinks.groupby</a:t>
            </a:r>
            <a:r>
              <a:rPr lang="en-US" sz="2400" b="1" dirty="0">
                <a:solidFill>
                  <a:srgbClr val="0070C0"/>
                </a:solidFill>
              </a:rPr>
              <a:t>('continent').</a:t>
            </a:r>
            <a:r>
              <a:rPr lang="en-US" sz="2400" b="1" dirty="0" err="1">
                <a:solidFill>
                  <a:srgbClr val="0070C0"/>
                </a:solidFill>
              </a:rPr>
              <a:t>beer_servings.mean</a:t>
            </a:r>
            <a:r>
              <a:rPr lang="en-US" sz="2400" b="1" dirty="0">
                <a:solidFill>
                  <a:srgbClr val="0070C0"/>
                </a:solidFill>
              </a:rPr>
              <a:t>()</a:t>
            </a: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drinks.groupby</a:t>
            </a:r>
            <a:r>
              <a:rPr lang="en-US" sz="2400" b="1" dirty="0">
                <a:solidFill>
                  <a:srgbClr val="0070C0"/>
                </a:solidFill>
              </a:rPr>
              <a:t>('continent').</a:t>
            </a:r>
            <a:r>
              <a:rPr lang="en-US" sz="2400" b="1" dirty="0" err="1">
                <a:solidFill>
                  <a:srgbClr val="0070C0"/>
                </a:solidFill>
              </a:rPr>
              <a:t>wine_servings.describe</a:t>
            </a:r>
            <a:r>
              <a:rPr lang="en-US" sz="2400" b="1" dirty="0">
                <a:solidFill>
                  <a:srgbClr val="0070C0"/>
                </a:solidFill>
              </a:rPr>
              <a:t>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Part A: Alcohol Consumption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97CE39-C5F1-48A6-8DDC-9A1410D45AA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561170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514725" y="0"/>
            <a:ext cx="8677274" cy="8002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Print the mean alcohol consumption per continent for every column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70C0"/>
                </a:solidFill>
              </a:rPr>
              <a:t>Print the median alcohol consumption per continent for every column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drinks.groupby</a:t>
            </a:r>
            <a:r>
              <a:rPr lang="en-US" sz="2400" b="1" dirty="0">
                <a:solidFill>
                  <a:srgbClr val="0070C0"/>
                </a:solidFill>
              </a:rPr>
              <a:t>('continent').mean()</a:t>
            </a:r>
          </a:p>
          <a:p>
            <a:pPr lvl="1">
              <a:defRPr/>
            </a:pPr>
            <a:endParaRPr lang="en-US" sz="2400" b="1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drinks.groupby</a:t>
            </a:r>
            <a:r>
              <a:rPr lang="en-US" sz="2400" b="1" dirty="0">
                <a:solidFill>
                  <a:srgbClr val="0070C0"/>
                </a:solidFill>
              </a:rPr>
              <a:t>('continent').median()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70C0"/>
                </a:solidFill>
              </a:rPr>
              <a:t># Part A: Alcohol Consumption</a:t>
            </a:r>
          </a:p>
          <a:p>
            <a:pPr>
              <a:defRPr/>
            </a:pPr>
            <a:endParaRPr lang="en-US" sz="2300" b="1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FB5468-987C-46C0-9ECD-3494A53D5F9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947603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9042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70C0"/>
                </a:solidFill>
              </a:rPr>
              <a:t>Pandas – Mini Project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2060"/>
                </a:solidFill>
              </a:rPr>
              <a:t>Print the mean, min and max values for spirit consumption.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lvl="1">
              <a:defRPr/>
            </a:pPr>
            <a:endParaRPr lang="en-US" sz="2400" b="1" dirty="0"/>
          </a:p>
          <a:p>
            <a:pPr lvl="1">
              <a:defRPr/>
            </a:pPr>
            <a:r>
              <a:rPr lang="en-US" sz="2400" b="1" dirty="0" err="1"/>
              <a:t>drinks.groupby</a:t>
            </a:r>
            <a:r>
              <a:rPr lang="en-US" sz="2400" b="1" dirty="0"/>
              <a:t>('continent').</a:t>
            </a:r>
            <a:r>
              <a:rPr lang="en-US" sz="2400" b="1" dirty="0" err="1"/>
              <a:t>spirit_servings.agg</a:t>
            </a:r>
            <a:r>
              <a:rPr lang="en-US" sz="2400" b="1" dirty="0"/>
              <a:t>(['mean', 'min', 'max'])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2060"/>
                </a:solidFill>
              </a:rPr>
              <a:t># Part A: Alcohol Consumption</a:t>
            </a:r>
          </a:p>
          <a:p>
            <a:pPr>
              <a:defRPr/>
            </a:pPr>
            <a:endParaRPr lang="en-US" sz="2300" b="1" dirty="0">
              <a:solidFill>
                <a:srgbClr val="00206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0EC597-6514-4ABA-943D-9F4D6A27F26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418154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733800" y="0"/>
            <a:ext cx="8458199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2060"/>
                </a:solidFill>
              </a:rPr>
              <a:t>Load new data file</a:t>
            </a:r>
            <a:endParaRPr lang="en-US" sz="2400" b="1" dirty="0"/>
          </a:p>
          <a:p>
            <a:pPr lvl="1">
              <a:defRPr/>
            </a:pPr>
            <a:endParaRPr lang="en-US" sz="2400" b="1" dirty="0"/>
          </a:p>
          <a:p>
            <a:pPr lvl="1">
              <a:defRPr/>
            </a:pPr>
            <a:r>
              <a:rPr lang="en-US" sz="2400" b="1" dirty="0" err="1"/>
              <a:t>df</a:t>
            </a:r>
            <a:r>
              <a:rPr lang="en-US" sz="2400" b="1" dirty="0"/>
              <a:t> = </a:t>
            </a:r>
            <a:r>
              <a:rPr lang="en-US" sz="2400" b="1" dirty="0" err="1"/>
              <a:t>pd.read_csv</a:t>
            </a:r>
            <a:r>
              <a:rPr lang="en-US" sz="2400" b="1" dirty="0"/>
              <a:t>('student-mat.csv')</a:t>
            </a:r>
          </a:p>
          <a:p>
            <a:pPr lvl="1">
              <a:defRPr/>
            </a:pPr>
            <a:r>
              <a:rPr lang="en-US" sz="2400" b="1" dirty="0" err="1"/>
              <a:t>df.head</a:t>
            </a:r>
            <a:r>
              <a:rPr lang="en-US" sz="2400" b="1" dirty="0"/>
              <a:t>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2060"/>
                </a:solidFill>
              </a:rPr>
              <a:t># Part B: Student Alcohol Consumption</a:t>
            </a:r>
          </a:p>
          <a:p>
            <a:pPr>
              <a:defRPr/>
            </a:pPr>
            <a:endParaRPr lang="en-US" sz="2300" b="1" dirty="0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31536" y="3937655"/>
            <a:ext cx="996275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2060"/>
                </a:solidFill>
              </a:rPr>
              <a:t>For the purpose of this exercise slice the </a:t>
            </a:r>
            <a:r>
              <a:rPr lang="en-US" sz="2000" b="1" dirty="0" err="1">
                <a:solidFill>
                  <a:srgbClr val="002060"/>
                </a:solidFill>
              </a:rPr>
              <a:t>dataframe</a:t>
            </a:r>
            <a:r>
              <a:rPr lang="en-US" sz="2000" b="1" dirty="0">
                <a:solidFill>
                  <a:srgbClr val="002060"/>
                </a:solidFill>
              </a:rPr>
              <a:t> from 'school' until the 'guardian' column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lvl="1">
              <a:defRPr/>
            </a:pPr>
            <a:r>
              <a:rPr lang="en-US" sz="2400" b="1" dirty="0" err="1"/>
              <a:t>stud_alcoh</a:t>
            </a:r>
            <a:r>
              <a:rPr lang="en-US" sz="2400" b="1" dirty="0"/>
              <a:t> = </a:t>
            </a:r>
            <a:r>
              <a:rPr lang="en-US" sz="2400" b="1" dirty="0" err="1"/>
              <a:t>df.loc</a:t>
            </a:r>
            <a:r>
              <a:rPr lang="en-US" sz="2400" b="1" dirty="0"/>
              <a:t>[: , "</a:t>
            </a:r>
            <a:r>
              <a:rPr lang="en-US" sz="2400" b="1" dirty="0" err="1"/>
              <a:t>school":"guardian</a:t>
            </a:r>
            <a:r>
              <a:rPr lang="en-US" sz="2400" b="1" dirty="0"/>
              <a:t>"]</a:t>
            </a:r>
          </a:p>
          <a:p>
            <a:pPr lvl="1">
              <a:defRPr/>
            </a:pPr>
            <a:r>
              <a:rPr lang="en-US" sz="2400" b="1" dirty="0" err="1"/>
              <a:t>stud_alcoh.head</a:t>
            </a:r>
            <a:r>
              <a:rPr lang="en-US" sz="2400" b="1" dirty="0"/>
              <a:t>()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5F7BD2-D13D-4C23-9312-2FE66BB5759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550587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4133850" y="0"/>
            <a:ext cx="8058149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2060"/>
                </a:solidFill>
              </a:rPr>
              <a:t>Create a lambda function that will capitalize strings.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2060"/>
                </a:solidFill>
              </a:rPr>
              <a:t>Capitalize both </a:t>
            </a:r>
            <a:r>
              <a:rPr lang="en-US" sz="2000" b="1" dirty="0" err="1">
                <a:solidFill>
                  <a:srgbClr val="002060"/>
                </a:solidFill>
              </a:rPr>
              <a:t>Mjob</a:t>
            </a:r>
            <a:r>
              <a:rPr lang="en-US" sz="2000" b="1" dirty="0">
                <a:solidFill>
                  <a:srgbClr val="002060"/>
                </a:solidFill>
              </a:rPr>
              <a:t> and </a:t>
            </a:r>
            <a:r>
              <a:rPr lang="en-US" sz="2000" b="1" dirty="0" err="1">
                <a:solidFill>
                  <a:srgbClr val="002060"/>
                </a:solidFill>
              </a:rPr>
              <a:t>Fjob</a:t>
            </a:r>
            <a:endParaRPr lang="en-US" sz="2400" b="1" dirty="0"/>
          </a:p>
          <a:p>
            <a:pPr lvl="1">
              <a:defRPr/>
            </a:pPr>
            <a:endParaRPr lang="en-US" sz="2400" b="1" dirty="0"/>
          </a:p>
          <a:p>
            <a:pPr lvl="1">
              <a:defRPr/>
            </a:pPr>
            <a:r>
              <a:rPr lang="en-US" sz="2400" b="1" dirty="0"/>
              <a:t>capitalizer = lambda x: </a:t>
            </a:r>
            <a:r>
              <a:rPr lang="en-US" sz="2400" b="1" dirty="0" err="1"/>
              <a:t>x.capitalize</a:t>
            </a:r>
            <a:r>
              <a:rPr lang="en-US" sz="2400" b="1" dirty="0"/>
              <a:t>()</a:t>
            </a:r>
          </a:p>
          <a:p>
            <a:pPr lvl="1">
              <a:defRPr/>
            </a:pPr>
            <a:endParaRPr lang="en-US" sz="2400" b="1" dirty="0"/>
          </a:p>
          <a:p>
            <a:pPr lvl="1">
              <a:defRPr/>
            </a:pPr>
            <a:r>
              <a:rPr lang="en-US" sz="2400" b="1" dirty="0" err="1"/>
              <a:t>stud_alcoh</a:t>
            </a:r>
            <a:r>
              <a:rPr lang="en-US" sz="2400" b="1" dirty="0"/>
              <a:t>['</a:t>
            </a:r>
            <a:r>
              <a:rPr lang="en-US" sz="2400" b="1" dirty="0" err="1"/>
              <a:t>Mjob</a:t>
            </a:r>
            <a:r>
              <a:rPr lang="en-US" sz="2400" b="1" dirty="0"/>
              <a:t>'].apply(capitalizer)</a:t>
            </a:r>
          </a:p>
          <a:p>
            <a:pPr lvl="1">
              <a:defRPr/>
            </a:pPr>
            <a:r>
              <a:rPr lang="en-US" sz="2400" b="1" dirty="0" err="1"/>
              <a:t>stud_alcoh</a:t>
            </a:r>
            <a:r>
              <a:rPr lang="en-US" sz="2400" b="1" dirty="0"/>
              <a:t>['</a:t>
            </a:r>
            <a:r>
              <a:rPr lang="en-US" sz="2400" b="1" dirty="0" err="1"/>
              <a:t>Fjob</a:t>
            </a:r>
            <a:r>
              <a:rPr lang="en-US" sz="2400" b="1" dirty="0"/>
              <a:t>'].apply(capitalizer)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2060"/>
                </a:solidFill>
              </a:rPr>
              <a:t># Part B: Student Alcohol Consumption</a:t>
            </a:r>
          </a:p>
          <a:p>
            <a:pPr>
              <a:defRPr/>
            </a:pPr>
            <a:endParaRPr lang="en-US" sz="2300" b="1" dirty="0">
              <a:solidFill>
                <a:srgbClr val="00206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526E81-8179-4E1B-8BED-F8123DAE364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54886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63587"/>
            <a:ext cx="996275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2060"/>
                </a:solidFill>
              </a:rPr>
              <a:t>Print the last elements of the data set.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2060"/>
                </a:solidFill>
              </a:rPr>
              <a:t>Create a function called majority that returns a </a:t>
            </a:r>
            <a:r>
              <a:rPr lang="en-US" sz="2000" b="1" dirty="0" err="1">
                <a:solidFill>
                  <a:srgbClr val="002060"/>
                </a:solidFill>
              </a:rPr>
              <a:t>boolean</a:t>
            </a:r>
            <a:r>
              <a:rPr lang="en-US" sz="2000" b="1" dirty="0">
                <a:solidFill>
                  <a:srgbClr val="002060"/>
                </a:solidFill>
              </a:rPr>
              <a:t> value to a new column called </a:t>
            </a:r>
            <a:r>
              <a:rPr lang="en-US" sz="2000" b="1" dirty="0" err="1">
                <a:solidFill>
                  <a:srgbClr val="002060"/>
                </a:solidFill>
              </a:rPr>
              <a:t>legal_drinker</a:t>
            </a:r>
            <a:r>
              <a:rPr lang="en-US" sz="2000" b="1" dirty="0">
                <a:solidFill>
                  <a:srgbClr val="002060"/>
                </a:solidFill>
              </a:rPr>
              <a:t> (Consider majority as older than 17 years old)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 lvl="1">
              <a:defRPr/>
            </a:pPr>
            <a:r>
              <a:rPr lang="en-US" sz="2400" b="1" dirty="0" err="1"/>
              <a:t>stud_alcoh.tail</a:t>
            </a:r>
            <a:r>
              <a:rPr lang="en-US" sz="2400" b="1" dirty="0"/>
              <a:t>()</a:t>
            </a:r>
          </a:p>
          <a:p>
            <a:pPr lvl="1">
              <a:defRPr/>
            </a:pPr>
            <a:endParaRPr lang="en-US" sz="2400" b="1" dirty="0"/>
          </a:p>
          <a:p>
            <a:pPr lvl="1">
              <a:defRPr/>
            </a:pPr>
            <a:r>
              <a:rPr lang="en-US" sz="2400" b="1" dirty="0" err="1"/>
              <a:t>stud_alcoh</a:t>
            </a:r>
            <a:r>
              <a:rPr lang="en-US" sz="2400" b="1" dirty="0"/>
              <a:t>['</a:t>
            </a:r>
            <a:r>
              <a:rPr lang="en-US" sz="2400" b="1" dirty="0" err="1"/>
              <a:t>Mjob</a:t>
            </a:r>
            <a:r>
              <a:rPr lang="en-US" sz="2400" b="1" dirty="0"/>
              <a:t>'] = </a:t>
            </a:r>
            <a:r>
              <a:rPr lang="en-US" sz="2400" b="1" dirty="0" err="1"/>
              <a:t>stud_alcoh</a:t>
            </a:r>
            <a:r>
              <a:rPr lang="en-US" sz="2400" b="1" dirty="0"/>
              <a:t>['</a:t>
            </a:r>
            <a:r>
              <a:rPr lang="en-US" sz="2400" b="1" dirty="0" err="1"/>
              <a:t>Mjob</a:t>
            </a:r>
            <a:r>
              <a:rPr lang="en-US" sz="2400" b="1" dirty="0"/>
              <a:t>'].apply(capitalizer)</a:t>
            </a:r>
          </a:p>
          <a:p>
            <a:pPr lvl="1">
              <a:defRPr/>
            </a:pPr>
            <a:r>
              <a:rPr lang="en-US" sz="2400" b="1" dirty="0" err="1"/>
              <a:t>stud_alcoh</a:t>
            </a:r>
            <a:r>
              <a:rPr lang="en-US" sz="2400" b="1" dirty="0"/>
              <a:t>['</a:t>
            </a:r>
            <a:r>
              <a:rPr lang="en-US" sz="2400" b="1" dirty="0" err="1"/>
              <a:t>Fjob</a:t>
            </a:r>
            <a:r>
              <a:rPr lang="en-US" sz="2400" b="1" dirty="0"/>
              <a:t>'] = </a:t>
            </a:r>
            <a:r>
              <a:rPr lang="en-US" sz="2400" b="1" dirty="0" err="1"/>
              <a:t>stud_alcoh</a:t>
            </a:r>
            <a:r>
              <a:rPr lang="en-US" sz="2400" b="1" dirty="0"/>
              <a:t>['</a:t>
            </a:r>
            <a:r>
              <a:rPr lang="en-US" sz="2400" b="1" dirty="0" err="1"/>
              <a:t>Fjob</a:t>
            </a:r>
            <a:r>
              <a:rPr lang="en-US" sz="2400" b="1" dirty="0"/>
              <a:t>'].apply(capitalizer)</a:t>
            </a:r>
          </a:p>
          <a:p>
            <a:pPr lvl="1">
              <a:defRPr/>
            </a:pPr>
            <a:r>
              <a:rPr lang="en-US" sz="2400" b="1" dirty="0" err="1"/>
              <a:t>stud_alcoh.tail</a:t>
            </a:r>
            <a:r>
              <a:rPr lang="en-US" sz="2400" b="1" dirty="0"/>
              <a:t>()</a:t>
            </a:r>
          </a:p>
          <a:p>
            <a:pPr lvl="1">
              <a:defRPr/>
            </a:pPr>
            <a:endParaRPr lang="en-US" sz="2400" b="1" dirty="0"/>
          </a:p>
          <a:p>
            <a:pPr lvl="1">
              <a:defRPr/>
            </a:pP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2060"/>
                </a:solidFill>
              </a:rPr>
              <a:t># Part B: Student Alcohol Consumption</a:t>
            </a:r>
          </a:p>
          <a:p>
            <a:pPr>
              <a:defRPr/>
            </a:pPr>
            <a:endParaRPr lang="en-US" sz="2300" b="1" dirty="0">
              <a:solidFill>
                <a:srgbClr val="00206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87EB56-01B1-4810-9A9C-634B283DE54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19510"/>
      </p:ext>
    </p:extLst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686175" y="0"/>
            <a:ext cx="85058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962609"/>
            <a:ext cx="996275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2060"/>
                </a:solidFill>
              </a:rPr>
              <a:t>Create a function called majority that returns a </a:t>
            </a:r>
            <a:r>
              <a:rPr lang="en-US" sz="2000" b="1" dirty="0" err="1">
                <a:solidFill>
                  <a:srgbClr val="002060"/>
                </a:solidFill>
              </a:rPr>
              <a:t>boolean</a:t>
            </a:r>
            <a:r>
              <a:rPr lang="en-US" sz="2000" b="1" dirty="0">
                <a:solidFill>
                  <a:srgbClr val="002060"/>
                </a:solidFill>
              </a:rPr>
              <a:t> value to a new column called </a:t>
            </a:r>
            <a:r>
              <a:rPr lang="en-US" sz="2000" b="1" dirty="0" err="1">
                <a:solidFill>
                  <a:srgbClr val="002060"/>
                </a:solidFill>
              </a:rPr>
              <a:t>legal_drinker</a:t>
            </a:r>
            <a:r>
              <a:rPr lang="en-US" sz="2000" b="1" dirty="0">
                <a:solidFill>
                  <a:srgbClr val="002060"/>
                </a:solidFill>
              </a:rPr>
              <a:t> (Consider majority as older than 17 years old)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 lvl="1">
              <a:defRPr/>
            </a:pPr>
            <a:r>
              <a:rPr lang="en-US" sz="2400" b="1" dirty="0" err="1"/>
              <a:t>def</a:t>
            </a:r>
            <a:r>
              <a:rPr lang="en-US" sz="2400" b="1" dirty="0"/>
              <a:t> majority(x):</a:t>
            </a:r>
          </a:p>
          <a:p>
            <a:pPr lvl="1">
              <a:defRPr/>
            </a:pPr>
            <a:r>
              <a:rPr lang="en-US" sz="2400" b="1" dirty="0"/>
              <a:t>    if x &gt; 17:</a:t>
            </a:r>
          </a:p>
          <a:p>
            <a:pPr lvl="1">
              <a:defRPr/>
            </a:pPr>
            <a:r>
              <a:rPr lang="en-US" sz="2400" b="1" dirty="0"/>
              <a:t>        return True</a:t>
            </a:r>
          </a:p>
          <a:p>
            <a:pPr lvl="1">
              <a:defRPr/>
            </a:pPr>
            <a:r>
              <a:rPr lang="en-US" sz="2400" b="1" dirty="0"/>
              <a:t>    else:</a:t>
            </a:r>
          </a:p>
          <a:p>
            <a:pPr lvl="1">
              <a:defRPr/>
            </a:pPr>
            <a:r>
              <a:rPr lang="en-US" sz="2400" b="1" dirty="0"/>
              <a:t>        return False</a:t>
            </a:r>
          </a:p>
          <a:p>
            <a:pPr lvl="1">
              <a:defRPr/>
            </a:pPr>
            <a:endParaRPr lang="en-US" sz="2400" b="1" dirty="0"/>
          </a:p>
          <a:p>
            <a:pPr lvl="1">
              <a:defRPr/>
            </a:pPr>
            <a:r>
              <a:rPr lang="en-US" sz="2400" b="1" dirty="0" err="1"/>
              <a:t>stud_alcoh</a:t>
            </a:r>
            <a:r>
              <a:rPr lang="en-US" sz="2400" b="1" dirty="0"/>
              <a:t>['</a:t>
            </a:r>
            <a:r>
              <a:rPr lang="en-US" sz="2400" b="1" dirty="0" err="1"/>
              <a:t>legal_drinker</a:t>
            </a:r>
            <a:r>
              <a:rPr lang="en-US" sz="2400" b="1" dirty="0"/>
              <a:t>'] = </a:t>
            </a:r>
            <a:r>
              <a:rPr lang="en-US" sz="2400" b="1" dirty="0" err="1"/>
              <a:t>stud_alcoh</a:t>
            </a:r>
            <a:r>
              <a:rPr lang="en-US" sz="2400" b="1" dirty="0"/>
              <a:t>['age'].apply(majority)</a:t>
            </a:r>
          </a:p>
          <a:p>
            <a:pPr lvl="1">
              <a:defRPr/>
            </a:pPr>
            <a:r>
              <a:rPr lang="en-US" sz="2400" b="1" dirty="0" err="1"/>
              <a:t>stud_alcoh.head</a:t>
            </a:r>
            <a:r>
              <a:rPr lang="en-US" sz="2400" b="1" dirty="0"/>
              <a:t>()</a:t>
            </a:r>
          </a:p>
          <a:p>
            <a:pPr lvl="1">
              <a:defRPr/>
            </a:pPr>
            <a:endParaRPr 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91941" y="899241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2060"/>
                </a:solidFill>
              </a:rPr>
              <a:t># Part B: Student Alcohol Consumption</a:t>
            </a:r>
          </a:p>
          <a:p>
            <a:pPr>
              <a:defRPr/>
            </a:pPr>
            <a:endParaRPr lang="en-US" sz="2300" b="1" dirty="0">
              <a:solidFill>
                <a:srgbClr val="00206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454C92-3734-4B91-8E57-40DA489ED14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283219"/>
      </p:ext>
    </p:extLst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4067175" y="0"/>
            <a:ext cx="81248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Mini Project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962609"/>
            <a:ext cx="996275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2060"/>
                </a:solidFill>
              </a:rPr>
              <a:t>Multiply every number of the dataset by 10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 lvl="1">
              <a:defRPr/>
            </a:pPr>
            <a:endParaRPr lang="en-US" sz="2400" b="1" dirty="0"/>
          </a:p>
          <a:p>
            <a:pPr lvl="1">
              <a:defRPr/>
            </a:pPr>
            <a:r>
              <a:rPr lang="en-US" sz="2400" b="1" dirty="0"/>
              <a:t>    def times10(x):</a:t>
            </a:r>
          </a:p>
          <a:p>
            <a:pPr lvl="2">
              <a:defRPr/>
            </a:pPr>
            <a:r>
              <a:rPr lang="en-US" sz="2400" b="1" dirty="0"/>
              <a:t>  if type(x) is int:</a:t>
            </a:r>
          </a:p>
          <a:p>
            <a:pPr lvl="2">
              <a:defRPr/>
            </a:pPr>
            <a:r>
              <a:rPr lang="en-US" sz="2400" b="1" dirty="0"/>
              <a:t>    return 10 * x</a:t>
            </a:r>
          </a:p>
          <a:p>
            <a:pPr lvl="2">
              <a:defRPr/>
            </a:pPr>
            <a:r>
              <a:rPr lang="en-US" sz="2400" b="1" dirty="0"/>
              <a:t>  else:</a:t>
            </a:r>
          </a:p>
          <a:p>
            <a:pPr lvl="1">
              <a:defRPr/>
            </a:pPr>
            <a:r>
              <a:rPr lang="en-US" sz="2400" b="1" dirty="0"/>
              <a:t>    return x</a:t>
            </a:r>
          </a:p>
          <a:p>
            <a:pPr lvl="1">
              <a:defRPr/>
            </a:pPr>
            <a:endParaRPr lang="en-US" sz="2400" b="1" dirty="0"/>
          </a:p>
          <a:p>
            <a:pPr lvl="1">
              <a:defRPr/>
            </a:pPr>
            <a:r>
              <a:rPr lang="en-US" sz="2400" b="1" dirty="0" err="1"/>
              <a:t>stud_alcoh.applymap</a:t>
            </a:r>
            <a:r>
              <a:rPr lang="en-US" sz="2400" b="1" dirty="0"/>
              <a:t>(times10).head(10)</a:t>
            </a:r>
          </a:p>
          <a:p>
            <a:pPr lvl="1">
              <a:defRPr/>
            </a:pPr>
            <a:endParaRPr lang="en-US" sz="2400" b="1" dirty="0"/>
          </a:p>
          <a:p>
            <a:pPr lvl="1">
              <a:defRPr/>
            </a:pPr>
            <a:endParaRPr 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91941" y="899241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2060"/>
                </a:solidFill>
              </a:rPr>
              <a:t># Part B: Student Alcohol Consumption</a:t>
            </a:r>
          </a:p>
          <a:p>
            <a:pPr>
              <a:defRPr/>
            </a:pPr>
            <a:endParaRPr lang="en-US" sz="2300" b="1" dirty="0">
              <a:solidFill>
                <a:srgbClr val="00206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73BD73-09FC-40C7-9350-63687889433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852066"/>
      </p:ext>
    </p:extLst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339175" y="0"/>
            <a:ext cx="88528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 Mini Project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97640"/>
            <a:ext cx="996275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  <a:hlinkClick r:id="rId2"/>
              </a:rPr>
              <a:t>https://www1.nseindia.com/products/content/equities/indices/historical_index_data.htm</a:t>
            </a: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Upload nifty50_2018_2_2019.csv</a:t>
            </a: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Nifty50_2018 = </a:t>
            </a:r>
            <a:r>
              <a:rPr lang="en-US" sz="2000" b="1" dirty="0" err="1">
                <a:solidFill>
                  <a:srgbClr val="002060"/>
                </a:solidFill>
              </a:rPr>
              <a:t>pd.read_csv</a:t>
            </a:r>
            <a:r>
              <a:rPr lang="en-US" sz="2000" b="1" dirty="0">
                <a:solidFill>
                  <a:srgbClr val="002060"/>
                </a:solidFill>
              </a:rPr>
              <a:t>(‘nifty50_2018_2_2019’)</a:t>
            </a: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Nifty50_2018.head()</a:t>
            </a: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Nifty50_2018 = </a:t>
            </a:r>
            <a:r>
              <a:rPr lang="en-US" sz="2000" b="1" dirty="0" err="1">
                <a:solidFill>
                  <a:srgbClr val="002060"/>
                </a:solidFill>
              </a:rPr>
              <a:t>pd.read_csv</a:t>
            </a:r>
            <a:r>
              <a:rPr lang="en-US" sz="2000" b="1" dirty="0">
                <a:solidFill>
                  <a:srgbClr val="002060"/>
                </a:solidFill>
              </a:rPr>
              <a:t>(‘nifty50_2018_2_2019’, </a:t>
            </a:r>
            <a:r>
              <a:rPr lang="en-US" sz="2000" b="1" dirty="0" err="1">
                <a:solidFill>
                  <a:srgbClr val="002060"/>
                </a:solidFill>
              </a:rPr>
              <a:t>index_col</a:t>
            </a:r>
            <a:r>
              <a:rPr lang="en-US" sz="2000" b="1" dirty="0">
                <a:solidFill>
                  <a:srgbClr val="002060"/>
                </a:solidFill>
              </a:rPr>
              <a:t> = 0)</a:t>
            </a: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Nifty50_2018.head()</a:t>
            </a: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Nifty50_2018.loc[’31 Dec 2018’]</a:t>
            </a: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Nifty50_2018[‘Open’]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2060"/>
                </a:solidFill>
              </a:rPr>
              <a:t>Find NIFTY dataset for 2018 – 2019 – Daily numbers open, close, high and low.</a:t>
            </a:r>
          </a:p>
          <a:p>
            <a:pPr>
              <a:defRPr/>
            </a:pPr>
            <a:endParaRPr lang="en-US" sz="2300" b="1" dirty="0">
              <a:solidFill>
                <a:srgbClr val="00206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900510-7180-4F5A-AA93-EE38ADBFD01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292435"/>
      </p:ext>
    </p:extLst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4048125" y="0"/>
            <a:ext cx="814387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9587" y="2034333"/>
            <a:ext cx="996275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  <a:hlinkClick r:id="rId2"/>
              </a:rPr>
              <a:t>https://www1.nseindia.com/products/content/equities/indices/historical_index_data.htm</a:t>
            </a: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Upload nifty50_2018_2_2019.csv</a:t>
            </a: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Nifty50_2019 = </a:t>
            </a:r>
            <a:r>
              <a:rPr lang="en-US" sz="2000" b="1" dirty="0" err="1">
                <a:solidFill>
                  <a:srgbClr val="002060"/>
                </a:solidFill>
              </a:rPr>
              <a:t>pd.read_csv</a:t>
            </a:r>
            <a:r>
              <a:rPr lang="en-US" sz="2000" b="1" dirty="0">
                <a:solidFill>
                  <a:srgbClr val="002060"/>
                </a:solidFill>
              </a:rPr>
              <a:t>(‘nifty50_2019’, </a:t>
            </a:r>
            <a:r>
              <a:rPr lang="en-US" sz="2000" b="1" dirty="0" err="1">
                <a:solidFill>
                  <a:srgbClr val="002060"/>
                </a:solidFill>
              </a:rPr>
              <a:t>index_col</a:t>
            </a:r>
            <a:r>
              <a:rPr lang="en-US" sz="2000" b="1" dirty="0">
                <a:solidFill>
                  <a:srgbClr val="002060"/>
                </a:solidFill>
              </a:rPr>
              <a:t> = 0)</a:t>
            </a: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Nifty50_2019.head()</a:t>
            </a: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Print(nifty50_2018.shape, nifty50_2019.shape)</a:t>
            </a: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002060"/>
                </a:solidFill>
              </a:rPr>
              <a:t>Pd.concat</a:t>
            </a:r>
            <a:r>
              <a:rPr lang="en-US" sz="2000" b="1" dirty="0">
                <a:solidFill>
                  <a:srgbClr val="002060"/>
                </a:solidFill>
              </a:rPr>
              <a:t>([nifty50_2018, nifty50_2019])</a:t>
            </a: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Nifty50 = </a:t>
            </a:r>
            <a:r>
              <a:rPr lang="en-US" sz="2000" b="1" dirty="0" err="1">
                <a:solidFill>
                  <a:srgbClr val="002060"/>
                </a:solidFill>
              </a:rPr>
              <a:t>Pd.concat</a:t>
            </a:r>
            <a:r>
              <a:rPr lang="en-US" sz="2000" b="1" dirty="0">
                <a:solidFill>
                  <a:srgbClr val="002060"/>
                </a:solidFill>
              </a:rPr>
              <a:t>([nifty50_2018, nifty50_2019])</a:t>
            </a: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Nifty50.shape</a:t>
            </a: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2060"/>
                </a:solidFill>
              </a:rPr>
              <a:t># Task 6: Find NIFTY dataset for 2018 – 2019 – Daily numbers open, close, high and low.</a:t>
            </a:r>
          </a:p>
          <a:p>
            <a:pPr>
              <a:defRPr/>
            </a:pPr>
            <a:endParaRPr lang="en-US" sz="2300" b="1" dirty="0">
              <a:solidFill>
                <a:srgbClr val="00206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17FC9A-3C1C-4B23-AD93-F3E9FA3D78C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189237"/>
      </p:ext>
    </p:extLst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705225" y="0"/>
            <a:ext cx="848677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897640"/>
            <a:ext cx="9962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Niftynext50 = pd.read.csv(‘niftyNext50_2019’, </a:t>
            </a:r>
            <a:r>
              <a:rPr lang="en-US" sz="2000" b="1" dirty="0" err="1">
                <a:solidFill>
                  <a:srgbClr val="002060"/>
                </a:solidFill>
              </a:rPr>
              <a:t>index_col</a:t>
            </a:r>
            <a:r>
              <a:rPr lang="en-US" sz="2000" b="1" dirty="0">
                <a:solidFill>
                  <a:srgbClr val="002060"/>
                </a:solidFill>
              </a:rPr>
              <a:t> =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536" y="1063368"/>
            <a:ext cx="9962750" cy="610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2060"/>
                </a:solidFill>
              </a:rPr>
              <a:t># Task 6: Find NIFTY dataset for 2018 – 2019 – Daily numbers open, close, high and low.</a:t>
            </a:r>
          </a:p>
          <a:p>
            <a:pPr>
              <a:defRPr/>
            </a:pPr>
            <a:endParaRPr lang="en-US" sz="2300" b="1" dirty="0">
              <a:solidFill>
                <a:srgbClr val="002060"/>
              </a:solidFill>
            </a:endParaRPr>
          </a:p>
          <a:p>
            <a:pPr>
              <a:defRPr/>
            </a:pPr>
            <a:endParaRPr lang="en-US" sz="23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300" b="1" dirty="0">
                <a:solidFill>
                  <a:srgbClr val="002060"/>
                </a:solidFill>
              </a:rPr>
              <a:t>Niftynext50.head ()</a:t>
            </a:r>
          </a:p>
          <a:p>
            <a:pPr>
              <a:defRPr/>
            </a:pPr>
            <a:endParaRPr lang="en-US" sz="23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300" b="1" dirty="0">
                <a:solidFill>
                  <a:srgbClr val="002060"/>
                </a:solidFill>
              </a:rPr>
              <a:t>Nifty50_2019 = </a:t>
            </a:r>
            <a:r>
              <a:rPr lang="en-US" sz="2300" b="1" dirty="0" err="1">
                <a:solidFill>
                  <a:srgbClr val="002060"/>
                </a:solidFill>
              </a:rPr>
              <a:t>pd.concet</a:t>
            </a:r>
            <a:r>
              <a:rPr lang="en-US" sz="2300" b="1" dirty="0">
                <a:solidFill>
                  <a:srgbClr val="002060"/>
                </a:solidFill>
              </a:rPr>
              <a:t>([nifty50_2019, niftyNext50_2019], axis = 1)</a:t>
            </a:r>
          </a:p>
          <a:p>
            <a:pPr>
              <a:defRPr/>
            </a:pPr>
            <a:endParaRPr lang="en-US" sz="23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300" b="1" dirty="0">
                <a:solidFill>
                  <a:srgbClr val="002060"/>
                </a:solidFill>
              </a:rPr>
              <a:t>Nifty50_2019.shape()</a:t>
            </a:r>
          </a:p>
          <a:p>
            <a:pPr>
              <a:defRPr/>
            </a:pPr>
            <a:endParaRPr lang="en-US" sz="23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300" b="1" dirty="0">
                <a:solidFill>
                  <a:srgbClr val="002060"/>
                </a:solidFill>
              </a:rPr>
              <a:t>Nifty50_2019.head()</a:t>
            </a:r>
          </a:p>
          <a:p>
            <a:pPr>
              <a:defRPr/>
            </a:pPr>
            <a:endParaRPr lang="en-US" sz="23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300" b="1" dirty="0">
                <a:solidFill>
                  <a:srgbClr val="002060"/>
                </a:solidFill>
              </a:rPr>
              <a:t>Nifty_2019 = </a:t>
            </a:r>
            <a:r>
              <a:rPr lang="en-US" sz="2300" b="1" dirty="0" err="1">
                <a:solidFill>
                  <a:srgbClr val="002060"/>
                </a:solidFill>
              </a:rPr>
              <a:t>pd.concet</a:t>
            </a:r>
            <a:r>
              <a:rPr lang="en-US" sz="2300" b="1" dirty="0">
                <a:solidFill>
                  <a:srgbClr val="002060"/>
                </a:solidFill>
              </a:rPr>
              <a:t>([nifty50_2019, niftyNext50_2019], axis = 1, keys =[‘nifty50’, ‘niftynext50’])</a:t>
            </a:r>
          </a:p>
          <a:p>
            <a:pPr>
              <a:defRPr/>
            </a:pPr>
            <a:endParaRPr lang="en-US" sz="23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300" b="1" dirty="0">
                <a:solidFill>
                  <a:srgbClr val="002060"/>
                </a:solidFill>
              </a:rPr>
              <a:t>Nifty_2019.shape()</a:t>
            </a:r>
          </a:p>
          <a:p>
            <a:pPr>
              <a:defRPr/>
            </a:pPr>
            <a:endParaRPr lang="en-US" sz="2300" b="1" dirty="0">
              <a:solidFill>
                <a:srgbClr val="00206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B4C1DF-79BC-4AFD-8AB0-5BB4135B247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75802"/>
      </p:ext>
    </p:extLst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876675" y="0"/>
            <a:ext cx="831532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2173604"/>
            <a:ext cx="99627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Nifty_2019.head()</a:t>
            </a: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Nifty_2019[‘nifty50’]</a:t>
            </a: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Nifty_2019[‘nifty50’][‘open’]</a:t>
            </a: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Nifty_2019[‘nifty50’].</a:t>
            </a:r>
            <a:r>
              <a:rPr lang="en-US" sz="2000" b="1" dirty="0" err="1">
                <a:solidFill>
                  <a:srgbClr val="002060"/>
                </a:solidFill>
              </a:rPr>
              <a:t>loc</a:t>
            </a:r>
            <a:r>
              <a:rPr lang="en-US" sz="2000" b="1" dirty="0">
                <a:solidFill>
                  <a:srgbClr val="002060"/>
                </a:solidFill>
              </a:rPr>
              <a:t>[’31 Dec 2019’]</a:t>
            </a: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EA32FB-5B2A-4E41-B2D8-D50B38A3C43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396961"/>
      </p:ext>
    </p:extLst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troduction to Statistics"/>
          <p:cNvSpPr txBox="1">
            <a:spLocks/>
          </p:cNvSpPr>
          <p:nvPr/>
        </p:nvSpPr>
        <p:spPr>
          <a:xfrm>
            <a:off x="3857625" y="0"/>
            <a:ext cx="8334374" cy="1297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2438338" rtl="0" eaLnBrk="1" latinLnBrk="0" hangingPunct="1">
              <a:lnSpc>
                <a:spcPct val="17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4000" b="1" kern="1200">
                <a:solidFill>
                  <a:srgbClr val="DF574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6858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91440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2060"/>
                </a:solidFill>
              </a:rPr>
              <a:t>Pandas – Data Frame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941" y="1176534"/>
            <a:ext cx="996275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Tasks on Nifty data sets:</a:t>
            </a: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 marL="457200" indent="-457200">
              <a:buAutoNum type="arabicParenR"/>
              <a:defRPr/>
            </a:pPr>
            <a:r>
              <a:rPr lang="en-US" sz="2000" b="1" dirty="0">
                <a:solidFill>
                  <a:srgbClr val="002060"/>
                </a:solidFill>
              </a:rPr>
              <a:t>In 2019 how many days was nifty 50 volatile ( high &gt; 105% of low)</a:t>
            </a:r>
          </a:p>
          <a:p>
            <a:pPr marL="457200" indent="-457200">
              <a:buFontTx/>
              <a:buAutoNum type="arabicParenR"/>
              <a:defRPr/>
            </a:pPr>
            <a:r>
              <a:rPr lang="en-US" sz="2000" b="1" dirty="0">
                <a:solidFill>
                  <a:srgbClr val="002060"/>
                </a:solidFill>
              </a:rPr>
              <a:t>In 2019 how many days was nifty Next 50 volatile ( high &gt; 105% of low)</a:t>
            </a:r>
          </a:p>
          <a:p>
            <a:pPr marL="457200" indent="-457200">
              <a:buAutoNum type="arabicParenR"/>
              <a:defRPr/>
            </a:pPr>
            <a:r>
              <a:rPr lang="en-US" sz="2000" b="1" dirty="0">
                <a:solidFill>
                  <a:srgbClr val="002060"/>
                </a:solidFill>
              </a:rPr>
              <a:t>In 2019 how many days belonged to 4 classes (nifty 50 volatile , nifty 50  non volatile , Next 50 volatile &amp; Next 50 non volatile )</a:t>
            </a:r>
          </a:p>
          <a:p>
            <a:pPr marL="457200" indent="-457200">
              <a:buAutoNum type="arabicParenR"/>
              <a:defRPr/>
            </a:pPr>
            <a:r>
              <a:rPr lang="en-US" sz="2000" b="1" dirty="0">
                <a:solidFill>
                  <a:srgbClr val="002060"/>
                </a:solidFill>
              </a:rPr>
              <a:t>Compute the mean, median and </a:t>
            </a:r>
            <a:r>
              <a:rPr lang="en-US" sz="2000" b="1" dirty="0" err="1">
                <a:solidFill>
                  <a:srgbClr val="002060"/>
                </a:solidFill>
              </a:rPr>
              <a:t>std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var</a:t>
            </a:r>
            <a:r>
              <a:rPr lang="en-US" sz="2000" b="1" dirty="0">
                <a:solidFill>
                  <a:srgbClr val="002060"/>
                </a:solidFill>
              </a:rPr>
              <a:t> of closing value for each weekday in nifty 50 for 2019</a:t>
            </a:r>
          </a:p>
          <a:p>
            <a:pPr marL="457200" indent="-457200">
              <a:buFontTx/>
              <a:buAutoNum type="arabicParenR"/>
              <a:defRPr/>
            </a:pPr>
            <a:r>
              <a:rPr lang="en-US" sz="2000" b="1" dirty="0">
                <a:solidFill>
                  <a:srgbClr val="002060"/>
                </a:solidFill>
              </a:rPr>
              <a:t>Compute the mean, median and </a:t>
            </a:r>
            <a:r>
              <a:rPr lang="en-US" sz="2000" b="1" dirty="0" err="1">
                <a:solidFill>
                  <a:srgbClr val="002060"/>
                </a:solidFill>
              </a:rPr>
              <a:t>std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var</a:t>
            </a:r>
            <a:r>
              <a:rPr lang="en-US" sz="2000" b="1" dirty="0">
                <a:solidFill>
                  <a:srgbClr val="002060"/>
                </a:solidFill>
              </a:rPr>
              <a:t> of closing value for each month in nifty 50 for 2019</a:t>
            </a:r>
          </a:p>
          <a:p>
            <a:pPr marL="457200" indent="-457200">
              <a:buFontTx/>
              <a:buAutoNum type="arabicParenR"/>
              <a:defRPr/>
            </a:pPr>
            <a:r>
              <a:rPr lang="en-US" sz="2000" b="1" dirty="0">
                <a:solidFill>
                  <a:srgbClr val="002060"/>
                </a:solidFill>
              </a:rPr>
              <a:t>On days where nifty50 closed higher than the open, what was the mean of ( close – open) for </a:t>
            </a:r>
            <a:r>
              <a:rPr lang="en-US" sz="2000" b="1" dirty="0" err="1">
                <a:solidFill>
                  <a:srgbClr val="002060"/>
                </a:solidFill>
              </a:rPr>
              <a:t>niftyNext</a:t>
            </a:r>
            <a:r>
              <a:rPr lang="en-US" sz="2000" b="1" dirty="0">
                <a:solidFill>
                  <a:srgbClr val="002060"/>
                </a:solidFill>
              </a:rPr>
              <a:t> 50.</a:t>
            </a:r>
          </a:p>
          <a:p>
            <a:pPr marL="457200" indent="-457200">
              <a:buFontTx/>
              <a:buAutoNum type="arabicParenR"/>
              <a:defRPr/>
            </a:pPr>
            <a:r>
              <a:rPr lang="en-US" sz="2000" b="1" dirty="0">
                <a:solidFill>
                  <a:srgbClr val="002060"/>
                </a:solidFill>
              </a:rPr>
              <a:t>In 2019, how many days had the days high lower then the pervious days low in nifty50</a:t>
            </a:r>
          </a:p>
          <a:p>
            <a:pPr marL="457200" indent="-457200">
              <a:buFontTx/>
              <a:buAutoNum type="arabicParenR"/>
              <a:defRPr/>
            </a:pPr>
            <a:endParaRPr lang="en-US" sz="2000" b="1" dirty="0">
              <a:solidFill>
                <a:srgbClr val="002060"/>
              </a:solidFill>
            </a:endParaRPr>
          </a:p>
          <a:p>
            <a:pPr marL="457200" indent="-457200">
              <a:buAutoNum type="arabicParenR"/>
              <a:defRPr/>
            </a:pPr>
            <a:r>
              <a:rPr lang="en-US" sz="2000" b="1" dirty="0">
                <a:solidFill>
                  <a:srgbClr val="002060"/>
                </a:solidFill>
              </a:rPr>
              <a:t>In 2019, how many days did days close exceed the 30day moving average in niftyNext50(Excluding first month</a:t>
            </a: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8DA02F-A10F-440B-8D38-E2C09AA1668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6675"/>
            <a:ext cx="3339175" cy="9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7582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8999</TotalTime>
  <Words>7072</Words>
  <Application>Microsoft Office PowerPoint</Application>
  <PresentationFormat>Widescreen</PresentationFormat>
  <Paragraphs>1064</Paragraphs>
  <Slides>86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1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Niranjan K</dc:creator>
  <cp:lastModifiedBy>Niranjan K</cp:lastModifiedBy>
  <cp:revision>2</cp:revision>
  <dcterms:created xsi:type="dcterms:W3CDTF">2023-07-15T08:35:32Z</dcterms:created>
  <dcterms:modified xsi:type="dcterms:W3CDTF">2023-11-07T10:06:43Z</dcterms:modified>
</cp:coreProperties>
</file>